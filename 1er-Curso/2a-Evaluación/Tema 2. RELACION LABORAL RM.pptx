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4" r:id="rId1"/>
  </p:sldMasterIdLst>
  <p:sldIdLst>
    <p:sldId id="256" r:id="rId2"/>
    <p:sldId id="257" r:id="rId3"/>
    <p:sldId id="258" r:id="rId4"/>
    <p:sldId id="259" r:id="rId5"/>
    <p:sldId id="260" r:id="rId6"/>
    <p:sldId id="263" r:id="rId7"/>
    <p:sldId id="261" r:id="rId8"/>
    <p:sldId id="271" r:id="rId9"/>
    <p:sldId id="274" r:id="rId10"/>
    <p:sldId id="262" r:id="rId11"/>
    <p:sldId id="264" r:id="rId12"/>
    <p:sldId id="265" r:id="rId13"/>
    <p:sldId id="266" r:id="rId14"/>
    <p:sldId id="267" r:id="rId15"/>
    <p:sldId id="268" r:id="rId16"/>
    <p:sldId id="269" r:id="rId17"/>
    <p:sldId id="270" r:id="rId18"/>
    <p:sldId id="273" r:id="rId19"/>
    <p:sldId id="280" r:id="rId20"/>
    <p:sldId id="272" r:id="rId21"/>
    <p:sldId id="275" r:id="rId22"/>
    <p:sldId id="278" r:id="rId23"/>
    <p:sldId id="276" r:id="rId24"/>
    <p:sldId id="277" r:id="rId25"/>
    <p:sldId id="279"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114" d="100"/>
          <a:sy n="114" d="100"/>
        </p:scale>
        <p:origin x="47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sz="7200" b="1" cap="all" baseline="0">
                <a:solidFill>
                  <a:schemeClr val="tx1"/>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lvl1pPr>
              <a:defRPr>
                <a:solidFill>
                  <a:schemeClr val="tx1"/>
                </a:solidFill>
              </a:defRPr>
            </a:lvl1pPr>
          </a:lstStyle>
          <a:p>
            <a:fld id="{96DFF08F-DC6B-4601-B491-B0F83F6DD2DA}" type="datetimeFigureOut">
              <a:rPr lang="en-US" dirty="0"/>
              <a:pPr/>
              <a:t>10/19/2021</a:t>
            </a:fld>
            <a:endParaRPr lang="en-US" dirty="0"/>
          </a:p>
        </p:txBody>
      </p:sp>
      <p:sp>
        <p:nvSpPr>
          <p:cNvPr id="5" name="Footer Placeholder 4"/>
          <p:cNvSpPr>
            <a:spLocks noGrp="1"/>
          </p:cNvSpPr>
          <p:nvPr>
            <p:ph type="ftr" sz="quarter" idx="11"/>
          </p:nvPr>
        </p:nvSpPr>
        <p:spPr/>
        <p:txBody>
          <a:bodyPr/>
          <a:lstStyle>
            <a:lvl1pPr>
              <a:defRPr>
                <a:solidFill>
                  <a:schemeClr val="tx1"/>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4FAB73BC-B049-4115-A692-8D63A059BFB8}" type="slidenum">
              <a:rPr lang="en-US" dirty="0"/>
              <a:pPr/>
              <a:t>‹Nº›</a:t>
            </a:fld>
            <a:endParaRPr lang="en-US" dirty="0"/>
          </a:p>
        </p:txBody>
      </p:sp>
      <p:cxnSp>
        <p:nvCxnSpPr>
          <p:cNvPr id="8" name="Straight Connector 7"/>
          <p:cNvCxnSpPr/>
          <p:nvPr/>
        </p:nvCxnSpPr>
        <p:spPr>
          <a:xfrm>
            <a:off x="1978660" y="3733800"/>
            <a:ext cx="822960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dirty="0"/>
              <a:t>10/19/2021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106424" y="1173575"/>
            <a:ext cx="9966960" cy="2926080"/>
          </a:xfrm>
        </p:spPr>
        <p:txBody>
          <a:bodyPr anchor="b">
            <a:noAutofit/>
          </a:bodyPr>
          <a:lstStyle>
            <a:lvl1pPr algn="ctr">
              <a:lnSpc>
                <a:spcPct val="85000"/>
              </a:lnSpc>
              <a:defRPr sz="7200" b="0" cap="all" baseline="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709928" y="4154520"/>
            <a:ext cx="8769096" cy="1363806"/>
          </a:xfrm>
        </p:spPr>
        <p:txBody>
          <a:bodyPr anchor="t">
            <a:normAutofit/>
          </a:bodyPr>
          <a:lstStyle>
            <a:lvl1pPr marL="0" indent="0" algn="ctr">
              <a:buNone/>
              <a:defRPr sz="22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96DFF08F-DC6B-4601-B491-B0F83F6DD2DA}" type="datetimeFigureOut">
              <a:rPr lang="en-US" dirty="0"/>
              <a:t>10/19/2021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‹Nº›</a:t>
            </a:fld>
            <a:endParaRPr lang="en-US" dirty="0"/>
          </a:p>
        </p:txBody>
      </p:sp>
      <p:cxnSp>
        <p:nvCxnSpPr>
          <p:cNvPr id="7" name="Straight Connector 6"/>
          <p:cNvCxnSpPr/>
          <p:nvPr/>
        </p:nvCxnSpPr>
        <p:spPr>
          <a:xfrm>
            <a:off x="1981200" y="4020408"/>
            <a:ext cx="822960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96DFF08F-DC6B-4601-B491-B0F83F6DD2DA}" type="datetimeFigureOut">
              <a:rPr lang="en-US" dirty="0"/>
              <a:t>10/19/2021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96DFF08F-DC6B-4601-B491-B0F83F6DD2DA}" type="datetimeFigureOut">
              <a:rPr lang="en-US" dirty="0"/>
              <a:t>10/19/2021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‹Nº›</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96DFF08F-DC6B-4601-B491-B0F83F6DD2DA}" type="datetimeFigureOut">
              <a:rPr lang="en-US" dirty="0"/>
              <a:t>10/19/2021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DFF08F-DC6B-4601-B491-B0F83F6DD2DA}" type="datetimeFigureOut">
              <a:rPr lang="en-US" dirty="0"/>
              <a:t>10/19/2021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96DFF08F-DC6B-4601-B491-B0F83F6DD2DA}" type="datetimeFigureOut">
              <a:rPr lang="en-US" dirty="0"/>
              <a:t>10/19/2021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‹Nº›</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5413248" y="1069847"/>
            <a:ext cx="6099048" cy="4800600"/>
          </a:xfrm>
        </p:spPr>
        <p:txBody>
          <a:bodyPr lIns="274320" tIns="182880"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96DFF08F-DC6B-4601-B491-B0F83F6DD2DA}" type="datetimeFigureOut">
              <a:rPr lang="en-US" dirty="0"/>
              <a:t>10/19/2021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‹Nº›</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dirty="0"/>
              <a:t>10/19/2021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dirty="0"/>
              <a:t>10/19/2021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143000" y="609600"/>
            <a:ext cx="9875520" cy="1356360"/>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143000" y="2057400"/>
            <a:ext cx="9872871" cy="4038600"/>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142996" y="6223828"/>
            <a:ext cx="2329074" cy="365125"/>
          </a:xfrm>
          <a:prstGeom prst="rect">
            <a:avLst/>
          </a:prstGeom>
        </p:spPr>
        <p:txBody>
          <a:bodyPr vert="horz" lIns="91440" tIns="45720" rIns="91440" bIns="45720" rtlCol="0" anchor="ctr"/>
          <a:lstStyle>
            <a:lvl1pPr algn="l">
              <a:defRPr sz="1200">
                <a:solidFill>
                  <a:schemeClr val="tx1"/>
                </a:solidFill>
              </a:defRPr>
            </a:lvl1pPr>
          </a:lstStyle>
          <a:p>
            <a:fld id="{96DFF08F-DC6B-4601-B491-B0F83F6DD2DA}" type="datetimeFigureOut">
              <a:rPr lang="en-US" dirty="0"/>
              <a:pPr/>
              <a:t>10/19/2021</a:t>
            </a:fld>
            <a:endParaRPr lang="en-US" dirty="0"/>
          </a:p>
        </p:txBody>
      </p:sp>
      <p:sp>
        <p:nvSpPr>
          <p:cNvPr id="5" name="Footer Placeholder 4"/>
          <p:cNvSpPr>
            <a:spLocks noGrp="1"/>
          </p:cNvSpPr>
          <p:nvPr>
            <p:ph type="ftr" sz="quarter" idx="3"/>
          </p:nvPr>
        </p:nvSpPr>
        <p:spPr>
          <a:xfrm>
            <a:off x="3949148" y="6223828"/>
            <a:ext cx="4717774" cy="365125"/>
          </a:xfrm>
          <a:prstGeom prst="rect">
            <a:avLst/>
          </a:prstGeom>
        </p:spPr>
        <p:txBody>
          <a:bodyPr vert="horz" lIns="91440" tIns="45720" rIns="91440" bIns="45720" rtlCol="0" anchor="ctr"/>
          <a:lstStyle>
            <a:lvl1pPr algn="ctr">
              <a:defRPr sz="1200">
                <a:solidFill>
                  <a:schemeClr val="tx1"/>
                </a:solidFill>
              </a:defRPr>
            </a:lvl1pPr>
          </a:lstStyle>
          <a:p>
            <a:endParaRPr lang="en-US" dirty="0"/>
          </a:p>
        </p:txBody>
      </p:sp>
      <p:sp>
        <p:nvSpPr>
          <p:cNvPr id="6" name="Slide Number Placeholder 5"/>
          <p:cNvSpPr>
            <a:spLocks noGrp="1"/>
          </p:cNvSpPr>
          <p:nvPr>
            <p:ph type="sldNum" sz="quarter" idx="4"/>
          </p:nvPr>
        </p:nvSpPr>
        <p:spPr>
          <a:xfrm>
            <a:off x="9329530" y="6223828"/>
            <a:ext cx="1706217" cy="365125"/>
          </a:xfrm>
          <a:prstGeom prst="rect">
            <a:avLst/>
          </a:prstGeom>
        </p:spPr>
        <p:txBody>
          <a:bodyPr vert="horz" lIns="91440" tIns="45720" rIns="91440" bIns="45720" rtlCol="0" anchor="ctr"/>
          <a:lstStyle>
            <a:lvl1pPr algn="r">
              <a:defRPr sz="1200">
                <a:solidFill>
                  <a:schemeClr val="tx1"/>
                </a:solidFill>
              </a:defRPr>
            </a:lvl1pPr>
          </a:lstStyle>
          <a:p>
            <a:fld id="{4FAB73BC-B049-4115-A692-8D63A059BFB8}" type="slidenum">
              <a:rPr lang="en-US" dirty="0"/>
              <a:pPr/>
              <a:t>‹Nº›</a:t>
            </a:fld>
            <a:endParaRPr lang="en-US" dirty="0"/>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182880" algn="l" defTabSz="914400" rtl="0" eaLnBrk="1" latinLnBrk="0" hangingPunct="1">
        <a:lnSpc>
          <a:spcPct val="90000"/>
        </a:lnSpc>
        <a:spcBef>
          <a:spcPts val="1400"/>
        </a:spcBef>
        <a:buClr>
          <a:schemeClr val="tx1"/>
        </a:buClr>
        <a:buSzPct val="80000"/>
        <a:buFont typeface="Corbel" pitchFamily="34" charset="0"/>
        <a:buChar char="•"/>
        <a:defRPr sz="2200" kern="1200">
          <a:solidFill>
            <a:schemeClr val="tx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tx1"/>
        </a:buClr>
        <a:buSzPct val="80000"/>
        <a:buFont typeface="Corbel" pitchFamily="34" charset="0"/>
        <a:buChar char="•"/>
        <a:defRPr sz="2000" kern="1200">
          <a:solidFill>
            <a:schemeClr val="tx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tx1"/>
        </a:buClr>
        <a:buSzPct val="80000"/>
        <a:buFont typeface="Corbel" pitchFamily="34" charset="0"/>
        <a:buChar char="•"/>
        <a:defRPr sz="1800" kern="1200">
          <a:solidFill>
            <a:schemeClr val="tx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5E0EC50-F087-44C9-8A4D-7A0CC1F77D85}"/>
              </a:ext>
            </a:extLst>
          </p:cNvPr>
          <p:cNvSpPr>
            <a:spLocks noGrp="1"/>
          </p:cNvSpPr>
          <p:nvPr>
            <p:ph type="ctrTitle"/>
          </p:nvPr>
        </p:nvSpPr>
        <p:spPr/>
        <p:txBody>
          <a:bodyPr>
            <a:normAutofit/>
          </a:bodyPr>
          <a:lstStyle/>
          <a:p>
            <a:r>
              <a:rPr lang="es-ES" sz="4800" dirty="0">
                <a:latin typeface="Arial Black" panose="020B0A04020102020204" pitchFamily="34" charset="0"/>
              </a:rPr>
              <a:t>Tema 2.</a:t>
            </a:r>
            <a:br>
              <a:rPr lang="es-ES" sz="4800" dirty="0">
                <a:latin typeface="Arial Black" panose="020B0A04020102020204" pitchFamily="34" charset="0"/>
              </a:rPr>
            </a:br>
            <a:br>
              <a:rPr lang="es-ES" sz="4800" dirty="0">
                <a:latin typeface="Arial Black" panose="020B0A04020102020204" pitchFamily="34" charset="0"/>
              </a:rPr>
            </a:br>
            <a:r>
              <a:rPr lang="es-ES" sz="4800" dirty="0">
                <a:latin typeface="Arial Black" panose="020B0A04020102020204" pitchFamily="34" charset="0"/>
              </a:rPr>
              <a:t>la relación laboral</a:t>
            </a:r>
          </a:p>
        </p:txBody>
      </p:sp>
    </p:spTree>
    <p:extLst>
      <p:ext uri="{BB962C8B-B14F-4D97-AF65-F5344CB8AC3E}">
        <p14:creationId xmlns:p14="http://schemas.microsoft.com/office/powerpoint/2010/main" val="9304943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578C8DE-09D0-4744-9728-35DA88E72E56}"/>
              </a:ext>
            </a:extLst>
          </p:cNvPr>
          <p:cNvSpPr>
            <a:spLocks noGrp="1"/>
          </p:cNvSpPr>
          <p:nvPr>
            <p:ph type="title"/>
          </p:nvPr>
        </p:nvSpPr>
        <p:spPr>
          <a:xfrm>
            <a:off x="1143000" y="609599"/>
            <a:ext cx="9875520" cy="5350933"/>
          </a:xfrm>
        </p:spPr>
        <p:txBody>
          <a:bodyPr>
            <a:normAutofit/>
          </a:bodyPr>
          <a:lstStyle/>
          <a:p>
            <a:r>
              <a:rPr lang="es-ES" dirty="0"/>
              <a:t>1. La relación laboral</a:t>
            </a:r>
            <a:br>
              <a:rPr lang="es-ES" dirty="0"/>
            </a:br>
            <a:r>
              <a:rPr lang="es-ES" dirty="0"/>
              <a:t>2.Derechos y deberes.</a:t>
            </a:r>
            <a:br>
              <a:rPr lang="es-ES" dirty="0"/>
            </a:br>
            <a:r>
              <a:rPr lang="es-ES" dirty="0"/>
              <a:t>3. La jornada de trabajo</a:t>
            </a:r>
            <a:br>
              <a:rPr lang="es-ES" dirty="0"/>
            </a:br>
            <a:r>
              <a:rPr lang="es-ES" dirty="0"/>
              <a:t>4. Descanso festivo y vacaciones.</a:t>
            </a:r>
            <a:br>
              <a:rPr lang="es-ES" dirty="0"/>
            </a:br>
            <a:r>
              <a:rPr lang="es-ES" dirty="0"/>
              <a:t>5. permisos</a:t>
            </a:r>
            <a:br>
              <a:rPr lang="es-ES" dirty="0"/>
            </a:br>
            <a:endParaRPr lang="es-ES" dirty="0"/>
          </a:p>
        </p:txBody>
      </p:sp>
    </p:spTree>
    <p:extLst>
      <p:ext uri="{BB962C8B-B14F-4D97-AF65-F5344CB8AC3E}">
        <p14:creationId xmlns:p14="http://schemas.microsoft.com/office/powerpoint/2010/main" val="11693737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5D3D030-A2A1-4048-B764-CB73BBBDB5AE}"/>
              </a:ext>
            </a:extLst>
          </p:cNvPr>
          <p:cNvSpPr>
            <a:spLocks noGrp="1"/>
          </p:cNvSpPr>
          <p:nvPr>
            <p:ph type="title"/>
          </p:nvPr>
        </p:nvSpPr>
        <p:spPr>
          <a:xfrm>
            <a:off x="343949" y="729841"/>
            <a:ext cx="11644851" cy="1319091"/>
          </a:xfrm>
        </p:spPr>
        <p:txBody>
          <a:bodyPr>
            <a:normAutofit fontScale="90000"/>
          </a:bodyPr>
          <a:lstStyle/>
          <a:p>
            <a:br>
              <a:rPr lang="es-ES" sz="4000" b="1" dirty="0"/>
            </a:br>
            <a:r>
              <a:rPr lang="es-ES" sz="4000" b="1" dirty="0"/>
              <a:t>1.</a:t>
            </a:r>
            <a:r>
              <a:rPr lang="es-ES" sz="3600" b="1" dirty="0">
                <a:latin typeface="Arial" panose="020B0604020202020204" pitchFamily="34" charset="0"/>
                <a:cs typeface="Arial" panose="020B0604020202020204" pitchFamily="34" charset="0"/>
              </a:rPr>
              <a:t>LA RELACION LABORAL</a:t>
            </a:r>
            <a:br>
              <a:rPr lang="es-ES" sz="4000" b="1" dirty="0"/>
            </a:br>
            <a:br>
              <a:rPr lang="es-ES" sz="2700" dirty="0"/>
            </a:br>
            <a:r>
              <a:rPr lang="es-ES" sz="2700" b="1" dirty="0">
                <a:latin typeface="Arial" panose="020B0604020202020204" pitchFamily="34" charset="0"/>
                <a:cs typeface="Arial" panose="020B0604020202020204" pitchFamily="34" charset="0"/>
              </a:rPr>
              <a:t>La norma básica del derecho laboral es el Estatuto de los trabajadores, que regula las condiciones laborales de los trabajadores y que define la relación laboral ordinaria.</a:t>
            </a:r>
            <a:r>
              <a:rPr lang="es-ES" sz="1400" b="0" i="0" dirty="0">
                <a:solidFill>
                  <a:srgbClr val="515151"/>
                </a:solidFill>
                <a:effectLst/>
                <a:latin typeface="inherit"/>
              </a:rPr>
              <a:t> </a:t>
            </a:r>
            <a:endParaRPr lang="es-ES" sz="2700" b="1" dirty="0">
              <a:latin typeface="Arial" panose="020B0604020202020204" pitchFamily="34" charset="0"/>
              <a:cs typeface="Arial" panose="020B0604020202020204" pitchFamily="34" charset="0"/>
            </a:endParaRPr>
          </a:p>
        </p:txBody>
      </p:sp>
      <p:pic>
        <p:nvPicPr>
          <p:cNvPr id="5" name="Marcador de contenido 4">
            <a:extLst>
              <a:ext uri="{FF2B5EF4-FFF2-40B4-BE49-F238E27FC236}">
                <a16:creationId xmlns:a16="http://schemas.microsoft.com/office/drawing/2014/main" id="{789ABCEB-B717-4178-A62B-27EF167DA066}"/>
              </a:ext>
            </a:extLst>
          </p:cNvPr>
          <p:cNvPicPr>
            <a:picLocks noGrp="1" noChangeAspect="1"/>
          </p:cNvPicPr>
          <p:nvPr>
            <p:ph idx="1"/>
          </p:nvPr>
        </p:nvPicPr>
        <p:blipFill rotWithShape="1">
          <a:blip r:embed="rId2"/>
          <a:srcRect l="19777" t="16584" r="17398" b="10142"/>
          <a:stretch/>
        </p:blipFill>
        <p:spPr>
          <a:xfrm>
            <a:off x="948267" y="2541864"/>
            <a:ext cx="10346266" cy="4045202"/>
          </a:xfrm>
        </p:spPr>
      </p:pic>
    </p:spTree>
    <p:extLst>
      <p:ext uri="{BB962C8B-B14F-4D97-AF65-F5344CB8AC3E}">
        <p14:creationId xmlns:p14="http://schemas.microsoft.com/office/powerpoint/2010/main" val="16187214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CFD40C2B-5461-4989-B52B-4B050DC46B00}"/>
              </a:ext>
            </a:extLst>
          </p:cNvPr>
          <p:cNvPicPr>
            <a:picLocks noChangeAspect="1"/>
          </p:cNvPicPr>
          <p:nvPr/>
        </p:nvPicPr>
        <p:blipFill rotWithShape="1">
          <a:blip r:embed="rId2"/>
          <a:srcRect l="20139" t="15046" r="17360" b="12821"/>
          <a:stretch/>
        </p:blipFill>
        <p:spPr>
          <a:xfrm>
            <a:off x="508001" y="270933"/>
            <a:ext cx="11311466" cy="6062134"/>
          </a:xfrm>
          <a:prstGeom prst="rect">
            <a:avLst/>
          </a:prstGeom>
        </p:spPr>
      </p:pic>
    </p:spTree>
    <p:extLst>
      <p:ext uri="{BB962C8B-B14F-4D97-AF65-F5344CB8AC3E}">
        <p14:creationId xmlns:p14="http://schemas.microsoft.com/office/powerpoint/2010/main" val="36567936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AF5C753F-EE1C-4BCA-8F8D-ED8B519B5BA0}"/>
              </a:ext>
            </a:extLst>
          </p:cNvPr>
          <p:cNvPicPr>
            <a:picLocks noChangeAspect="1"/>
          </p:cNvPicPr>
          <p:nvPr/>
        </p:nvPicPr>
        <p:blipFill rotWithShape="1">
          <a:blip r:embed="rId2"/>
          <a:srcRect l="20368" t="14483" r="16934" b="7679"/>
          <a:stretch/>
        </p:blipFill>
        <p:spPr>
          <a:xfrm>
            <a:off x="1159856" y="270934"/>
            <a:ext cx="9584266" cy="5266267"/>
          </a:xfrm>
          <a:prstGeom prst="rect">
            <a:avLst/>
          </a:prstGeom>
        </p:spPr>
      </p:pic>
      <p:sp>
        <p:nvSpPr>
          <p:cNvPr id="6" name="CuadroTexto 5">
            <a:extLst>
              <a:ext uri="{FF2B5EF4-FFF2-40B4-BE49-F238E27FC236}">
                <a16:creationId xmlns:a16="http://schemas.microsoft.com/office/drawing/2014/main" id="{7ADF0AB6-F7FC-4E39-938B-3089B00FB222}"/>
              </a:ext>
            </a:extLst>
          </p:cNvPr>
          <p:cNvSpPr txBox="1"/>
          <p:nvPr/>
        </p:nvSpPr>
        <p:spPr>
          <a:xfrm>
            <a:off x="402672" y="5537201"/>
            <a:ext cx="11467750" cy="830997"/>
          </a:xfrm>
          <a:prstGeom prst="rect">
            <a:avLst/>
          </a:prstGeom>
          <a:noFill/>
        </p:spPr>
        <p:txBody>
          <a:bodyPr wrap="square" rtlCol="0">
            <a:spAutoFit/>
          </a:bodyPr>
          <a:lstStyle/>
          <a:p>
            <a:r>
              <a:rPr lang="es-ES" altLang="es-ES" sz="1600" dirty="0">
                <a:latin typeface="Arial Black" panose="020B0A04020102020204" pitchFamily="34" charset="0"/>
              </a:rPr>
              <a:t>Si falta alguna de estas 5 características no habrá Relación Laboral y por lo tanto no actuará el Derecho Laboral</a:t>
            </a:r>
            <a:r>
              <a:rPr lang="es-ES" altLang="es-ES" sz="1800" dirty="0">
                <a:latin typeface="Arial Black" panose="020B0A04020102020204" pitchFamily="34" charset="0"/>
              </a:rPr>
              <a:t>.</a:t>
            </a:r>
            <a:r>
              <a:rPr lang="es-ES" sz="1800" b="0" i="0" dirty="0">
                <a:solidFill>
                  <a:srgbClr val="515151"/>
                </a:solidFill>
                <a:effectLst/>
                <a:latin typeface="inherit"/>
              </a:rPr>
              <a:t> </a:t>
            </a:r>
            <a:r>
              <a:rPr lang="es-ES" sz="1400" b="0" i="0" dirty="0">
                <a:solidFill>
                  <a:srgbClr val="515151"/>
                </a:solidFill>
                <a:effectLst/>
                <a:latin typeface="inherit"/>
              </a:rPr>
              <a:t>No a todo tipo de trabajo se le aplica el</a:t>
            </a:r>
            <a:r>
              <a:rPr lang="es-ES" sz="1400" b="1" i="0" dirty="0">
                <a:solidFill>
                  <a:srgbClr val="515151"/>
                </a:solidFill>
                <a:effectLst/>
                <a:latin typeface="inherit"/>
              </a:rPr>
              <a:t> Estatuto de los Trabajadores </a:t>
            </a:r>
            <a:r>
              <a:rPr lang="es-ES" sz="1400" b="0" i="0" dirty="0">
                <a:solidFill>
                  <a:srgbClr val="515151"/>
                </a:solidFill>
                <a:effectLst/>
                <a:latin typeface="inherit"/>
              </a:rPr>
              <a:t>sino sólo el que reúne las siguientes características:</a:t>
            </a:r>
            <a:r>
              <a:rPr lang="es-ES" sz="1400" b="1" i="0" dirty="0">
                <a:solidFill>
                  <a:srgbClr val="515151"/>
                </a:solidFill>
                <a:effectLst/>
                <a:latin typeface="inherit"/>
              </a:rPr>
              <a:t> trabajo personal, voluntario, por cuenta ajena, retribuido y dependiente. (deben cumplirse todas)</a:t>
            </a:r>
            <a:endParaRPr lang="es-ES" sz="1400" dirty="0">
              <a:latin typeface="Arial Black" panose="020B0A04020102020204" pitchFamily="34" charset="0"/>
            </a:endParaRPr>
          </a:p>
        </p:txBody>
      </p:sp>
    </p:spTree>
    <p:extLst>
      <p:ext uri="{BB962C8B-B14F-4D97-AF65-F5344CB8AC3E}">
        <p14:creationId xmlns:p14="http://schemas.microsoft.com/office/powerpoint/2010/main" val="28715881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a:extLst>
              <a:ext uri="{FF2B5EF4-FFF2-40B4-BE49-F238E27FC236}">
                <a16:creationId xmlns:a16="http://schemas.microsoft.com/office/drawing/2014/main" id="{CB166BD3-F768-41BF-A035-F3FA39987A45}"/>
              </a:ext>
            </a:extLst>
          </p:cNvPr>
          <p:cNvPicPr>
            <a:picLocks noGrp="1" noChangeAspect="1"/>
          </p:cNvPicPr>
          <p:nvPr>
            <p:ph idx="1"/>
          </p:nvPr>
        </p:nvPicPr>
        <p:blipFill rotWithShape="1">
          <a:blip r:embed="rId2"/>
          <a:srcRect l="20061" t="16981" r="20062" b="24599"/>
          <a:stretch/>
        </p:blipFill>
        <p:spPr>
          <a:xfrm>
            <a:off x="507999" y="541867"/>
            <a:ext cx="11040533" cy="5588000"/>
          </a:xfrm>
        </p:spPr>
      </p:pic>
    </p:spTree>
    <p:extLst>
      <p:ext uri="{BB962C8B-B14F-4D97-AF65-F5344CB8AC3E}">
        <p14:creationId xmlns:p14="http://schemas.microsoft.com/office/powerpoint/2010/main" val="30111160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DCB7C89E-732B-4340-AAFF-4C9CBAE80BD7}"/>
              </a:ext>
            </a:extLst>
          </p:cNvPr>
          <p:cNvPicPr>
            <a:picLocks noChangeAspect="1"/>
          </p:cNvPicPr>
          <p:nvPr/>
        </p:nvPicPr>
        <p:blipFill rotWithShape="1">
          <a:blip r:embed="rId2"/>
          <a:srcRect l="20139" t="15541" r="16944" b="13808"/>
          <a:stretch/>
        </p:blipFill>
        <p:spPr>
          <a:xfrm>
            <a:off x="1013541" y="504406"/>
            <a:ext cx="10820400" cy="6096000"/>
          </a:xfrm>
          <a:prstGeom prst="rect">
            <a:avLst/>
          </a:prstGeom>
        </p:spPr>
      </p:pic>
    </p:spTree>
    <p:extLst>
      <p:ext uri="{BB962C8B-B14F-4D97-AF65-F5344CB8AC3E}">
        <p14:creationId xmlns:p14="http://schemas.microsoft.com/office/powerpoint/2010/main" val="31700323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D07521E1-2E15-495F-A50F-31B7F9C34A23}"/>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1998" t="2923" r="1869" b="10163"/>
          <a:stretch/>
        </p:blipFill>
        <p:spPr bwMode="auto">
          <a:xfrm>
            <a:off x="1041400" y="647700"/>
            <a:ext cx="10299700" cy="59111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67349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EFC6E9-82D4-4987-A8BE-34BF17AA8266}"/>
              </a:ext>
            </a:extLst>
          </p:cNvPr>
          <p:cNvSpPr>
            <a:spLocks noGrp="1"/>
          </p:cNvSpPr>
          <p:nvPr>
            <p:ph type="title"/>
          </p:nvPr>
        </p:nvSpPr>
        <p:spPr/>
        <p:txBody>
          <a:bodyPr/>
          <a:lstStyle/>
          <a:p>
            <a:endParaRPr lang="es-ES" dirty="0"/>
          </a:p>
        </p:txBody>
      </p:sp>
      <p:sp>
        <p:nvSpPr>
          <p:cNvPr id="3" name="Marcador de contenido 2">
            <a:extLst>
              <a:ext uri="{FF2B5EF4-FFF2-40B4-BE49-F238E27FC236}">
                <a16:creationId xmlns:a16="http://schemas.microsoft.com/office/drawing/2014/main" id="{60A3C9E7-A12C-408A-9B65-D5DF4A741092}"/>
              </a:ext>
            </a:extLst>
          </p:cNvPr>
          <p:cNvSpPr>
            <a:spLocks noGrp="1"/>
          </p:cNvSpPr>
          <p:nvPr>
            <p:ph idx="1"/>
          </p:nvPr>
        </p:nvSpPr>
        <p:spPr/>
        <p:txBody>
          <a:bodyPr/>
          <a:lstStyle/>
          <a:p>
            <a:br>
              <a:rPr lang="es-ES" dirty="0"/>
            </a:br>
            <a:br>
              <a:rPr lang="es-ES" b="1" i="0" dirty="0">
                <a:solidFill>
                  <a:srgbClr val="515151"/>
                </a:solidFill>
                <a:effectLst/>
                <a:latin typeface="inherit"/>
              </a:rPr>
            </a:br>
            <a:r>
              <a:rPr lang="es-ES" b="1" i="0" dirty="0">
                <a:solidFill>
                  <a:srgbClr val="515151"/>
                </a:solidFill>
                <a:effectLst/>
                <a:latin typeface="inherit"/>
              </a:rPr>
              <a:t>Ejemplo:</a:t>
            </a:r>
            <a:r>
              <a:rPr lang="es-ES" b="0" i="0" dirty="0">
                <a:solidFill>
                  <a:srgbClr val="515151"/>
                </a:solidFill>
                <a:effectLst/>
                <a:latin typeface="inherit"/>
              </a:rPr>
              <a:t> El dueño de una panadería, es un trabajador autónomo, su trabajo no estará regulado por el Derecho del Trabajo, ya que le faltaría la característica de </a:t>
            </a:r>
            <a:r>
              <a:rPr lang="es-ES" b="0" i="0" dirty="0" err="1">
                <a:solidFill>
                  <a:srgbClr val="515151"/>
                </a:solidFill>
                <a:effectLst/>
                <a:latin typeface="inherit"/>
              </a:rPr>
              <a:t>ajeneidad</a:t>
            </a:r>
            <a:r>
              <a:rPr lang="es-ES" b="0" i="0" dirty="0">
                <a:solidFill>
                  <a:srgbClr val="515151"/>
                </a:solidFill>
                <a:effectLst/>
                <a:latin typeface="inherit"/>
              </a:rPr>
              <a:t>, dependencia y retribución.</a:t>
            </a:r>
            <a:endParaRPr lang="es-ES" dirty="0"/>
          </a:p>
        </p:txBody>
      </p:sp>
    </p:spTree>
    <p:extLst>
      <p:ext uri="{BB962C8B-B14F-4D97-AF65-F5344CB8AC3E}">
        <p14:creationId xmlns:p14="http://schemas.microsoft.com/office/powerpoint/2010/main" val="34154231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A87F0E3-730D-4A66-A1E5-37294A84E95B}"/>
              </a:ext>
            </a:extLst>
          </p:cNvPr>
          <p:cNvSpPr>
            <a:spLocks noGrp="1"/>
          </p:cNvSpPr>
          <p:nvPr>
            <p:ph type="title"/>
          </p:nvPr>
        </p:nvSpPr>
        <p:spPr/>
        <p:txBody>
          <a:bodyPr>
            <a:normAutofit fontScale="90000"/>
          </a:bodyPr>
          <a:lstStyle/>
          <a:p>
            <a:r>
              <a:rPr lang="es-ES" sz="3600" b="1" dirty="0">
                <a:latin typeface="Arial" panose="020B0604020202020204" pitchFamily="34" charset="0"/>
                <a:cs typeface="Arial" panose="020B0604020202020204" pitchFamily="34" charset="0"/>
              </a:rPr>
              <a:t>2. DERECHOS Y DEBERES</a:t>
            </a:r>
            <a:br>
              <a:rPr lang="es-ES" sz="3200" b="1" dirty="0">
                <a:latin typeface="Arial" panose="020B0604020202020204" pitchFamily="34" charset="0"/>
                <a:cs typeface="Arial" panose="020B0604020202020204" pitchFamily="34" charset="0"/>
              </a:rPr>
            </a:br>
            <a:br>
              <a:rPr lang="es-ES" sz="3200" b="1" dirty="0">
                <a:latin typeface="Arial" panose="020B0604020202020204" pitchFamily="34" charset="0"/>
                <a:cs typeface="Arial" panose="020B0604020202020204" pitchFamily="34" charset="0"/>
              </a:rPr>
            </a:br>
            <a:r>
              <a:rPr lang="es-ES" sz="3200" b="1" dirty="0">
                <a:latin typeface="Arial" panose="020B0604020202020204" pitchFamily="34" charset="0"/>
                <a:cs typeface="Arial" panose="020B0604020202020204" pitchFamily="34" charset="0"/>
              </a:rPr>
              <a:t>Fuentes del Derecho</a:t>
            </a:r>
          </a:p>
        </p:txBody>
      </p:sp>
      <p:pic>
        <p:nvPicPr>
          <p:cNvPr id="5" name="Marcador de contenido 4">
            <a:extLst>
              <a:ext uri="{FF2B5EF4-FFF2-40B4-BE49-F238E27FC236}">
                <a16:creationId xmlns:a16="http://schemas.microsoft.com/office/drawing/2014/main" id="{FB6E8980-53E0-4DFA-B588-C9A8BBDB4B64}"/>
              </a:ext>
            </a:extLst>
          </p:cNvPr>
          <p:cNvPicPr>
            <a:picLocks noGrp="1" noChangeAspect="1"/>
          </p:cNvPicPr>
          <p:nvPr>
            <p:ph idx="1"/>
          </p:nvPr>
        </p:nvPicPr>
        <p:blipFill rotWithShape="1">
          <a:blip r:embed="rId2"/>
          <a:srcRect l="19587" t="16981" r="20066" b="22642"/>
          <a:stretch/>
        </p:blipFill>
        <p:spPr>
          <a:xfrm>
            <a:off x="660400" y="1965961"/>
            <a:ext cx="10735733" cy="4536440"/>
          </a:xfrm>
        </p:spPr>
      </p:pic>
    </p:spTree>
    <p:extLst>
      <p:ext uri="{BB962C8B-B14F-4D97-AF65-F5344CB8AC3E}">
        <p14:creationId xmlns:p14="http://schemas.microsoft.com/office/powerpoint/2010/main" val="22619732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a:extLst>
              <a:ext uri="{FF2B5EF4-FFF2-40B4-BE49-F238E27FC236}">
                <a16:creationId xmlns:a16="http://schemas.microsoft.com/office/drawing/2014/main" id="{B96123D7-85BD-4563-8ADD-AE756CA6218C}"/>
              </a:ext>
            </a:extLst>
          </p:cNvPr>
          <p:cNvPicPr>
            <a:picLocks noGrp="1" noChangeAspect="1"/>
          </p:cNvPicPr>
          <p:nvPr>
            <p:ph idx="1"/>
          </p:nvPr>
        </p:nvPicPr>
        <p:blipFill rotWithShape="1">
          <a:blip r:embed="rId2"/>
          <a:srcRect l="20058" t="10317" r="14173" b="11905"/>
          <a:stretch/>
        </p:blipFill>
        <p:spPr>
          <a:xfrm>
            <a:off x="169333" y="440268"/>
            <a:ext cx="11700934" cy="6062132"/>
          </a:xfrm>
        </p:spPr>
      </p:pic>
    </p:spTree>
    <p:extLst>
      <p:ext uri="{BB962C8B-B14F-4D97-AF65-F5344CB8AC3E}">
        <p14:creationId xmlns:p14="http://schemas.microsoft.com/office/powerpoint/2010/main" val="712474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Marcador de contenido 6">
            <a:extLst>
              <a:ext uri="{FF2B5EF4-FFF2-40B4-BE49-F238E27FC236}">
                <a16:creationId xmlns:a16="http://schemas.microsoft.com/office/drawing/2014/main" id="{D5927FF2-6A05-4012-9C89-1A04C5B931E9}"/>
              </a:ext>
            </a:extLst>
          </p:cNvPr>
          <p:cNvPicPr>
            <a:picLocks noGrp="1" noChangeAspect="1"/>
          </p:cNvPicPr>
          <p:nvPr>
            <p:ph idx="1"/>
          </p:nvPr>
        </p:nvPicPr>
        <p:blipFill rotWithShape="1">
          <a:blip r:embed="rId2"/>
          <a:srcRect l="19891" t="9426" r="15981" b="16803"/>
          <a:stretch/>
        </p:blipFill>
        <p:spPr>
          <a:xfrm>
            <a:off x="491067" y="423333"/>
            <a:ext cx="11430000" cy="6146800"/>
          </a:xfrm>
        </p:spPr>
      </p:pic>
    </p:spTree>
    <p:extLst>
      <p:ext uri="{BB962C8B-B14F-4D97-AF65-F5344CB8AC3E}">
        <p14:creationId xmlns:p14="http://schemas.microsoft.com/office/powerpoint/2010/main" val="1409308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a:extLst>
              <a:ext uri="{FF2B5EF4-FFF2-40B4-BE49-F238E27FC236}">
                <a16:creationId xmlns:a16="http://schemas.microsoft.com/office/drawing/2014/main" id="{41B15D4D-726D-4BE6-96AC-CDC28E5B36F0}"/>
              </a:ext>
            </a:extLst>
          </p:cNvPr>
          <p:cNvPicPr>
            <a:picLocks noGrp="1" noChangeAspect="1"/>
          </p:cNvPicPr>
          <p:nvPr>
            <p:ph idx="1"/>
          </p:nvPr>
        </p:nvPicPr>
        <p:blipFill rotWithShape="1">
          <a:blip r:embed="rId2"/>
          <a:srcRect l="20067" t="9512" r="14169" b="9224"/>
          <a:stretch/>
        </p:blipFill>
        <p:spPr>
          <a:xfrm>
            <a:off x="540991" y="474133"/>
            <a:ext cx="11041409" cy="5994400"/>
          </a:xfrm>
        </p:spPr>
      </p:pic>
    </p:spTree>
    <p:extLst>
      <p:ext uri="{BB962C8B-B14F-4D97-AF65-F5344CB8AC3E}">
        <p14:creationId xmlns:p14="http://schemas.microsoft.com/office/powerpoint/2010/main" val="29151187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BDBEF386-6480-4FEE-B2F2-C28B7071CFB9}"/>
              </a:ext>
            </a:extLst>
          </p:cNvPr>
          <p:cNvPicPr>
            <a:picLocks noChangeAspect="1"/>
          </p:cNvPicPr>
          <p:nvPr/>
        </p:nvPicPr>
        <p:blipFill rotWithShape="1">
          <a:blip r:embed="rId2"/>
          <a:srcRect l="26529" t="18379" r="22499" b="22702"/>
          <a:stretch/>
        </p:blipFill>
        <p:spPr>
          <a:xfrm>
            <a:off x="1016000" y="372534"/>
            <a:ext cx="10498667" cy="6028266"/>
          </a:xfrm>
          <a:prstGeom prst="rect">
            <a:avLst/>
          </a:prstGeom>
        </p:spPr>
      </p:pic>
    </p:spTree>
    <p:extLst>
      <p:ext uri="{BB962C8B-B14F-4D97-AF65-F5344CB8AC3E}">
        <p14:creationId xmlns:p14="http://schemas.microsoft.com/office/powerpoint/2010/main" val="1307091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a:extLst>
              <a:ext uri="{FF2B5EF4-FFF2-40B4-BE49-F238E27FC236}">
                <a16:creationId xmlns:a16="http://schemas.microsoft.com/office/drawing/2014/main" id="{1832553D-DA9E-4E83-9E39-709A2149F08E}"/>
              </a:ext>
            </a:extLst>
          </p:cNvPr>
          <p:cNvPicPr>
            <a:picLocks noGrp="1" noChangeAspect="1"/>
          </p:cNvPicPr>
          <p:nvPr>
            <p:ph idx="1"/>
          </p:nvPr>
        </p:nvPicPr>
        <p:blipFill rotWithShape="1">
          <a:blip r:embed="rId2"/>
          <a:srcRect l="19823" t="15303" r="17236" b="7966"/>
          <a:stretch/>
        </p:blipFill>
        <p:spPr>
          <a:xfrm>
            <a:off x="440267" y="287867"/>
            <a:ext cx="11294533" cy="6112933"/>
          </a:xfrm>
        </p:spPr>
      </p:pic>
    </p:spTree>
    <p:extLst>
      <p:ext uri="{BB962C8B-B14F-4D97-AF65-F5344CB8AC3E}">
        <p14:creationId xmlns:p14="http://schemas.microsoft.com/office/powerpoint/2010/main" val="7687322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E13D826-55B6-47C5-9D87-D70281B2277F}"/>
              </a:ext>
            </a:extLst>
          </p:cNvPr>
          <p:cNvSpPr>
            <a:spLocks noGrp="1"/>
          </p:cNvSpPr>
          <p:nvPr>
            <p:ph type="title"/>
          </p:nvPr>
        </p:nvSpPr>
        <p:spPr/>
        <p:txBody>
          <a:bodyPr>
            <a:normAutofit fontScale="90000"/>
          </a:bodyPr>
          <a:lstStyle/>
          <a:p>
            <a:r>
              <a:rPr lang="es-ES" sz="3600" b="1" dirty="0">
                <a:latin typeface="Arial" panose="020B0604020202020204" pitchFamily="34" charset="0"/>
                <a:cs typeface="Arial" panose="020B0604020202020204" pitchFamily="34" charset="0"/>
              </a:rPr>
              <a:t>3. LA JORNADA DE TRABAJO</a:t>
            </a:r>
            <a:br>
              <a:rPr lang="es-ES" dirty="0"/>
            </a:br>
            <a:br>
              <a:rPr lang="es-ES" dirty="0"/>
            </a:br>
            <a:endParaRPr lang="es-ES" dirty="0"/>
          </a:p>
        </p:txBody>
      </p:sp>
      <p:pic>
        <p:nvPicPr>
          <p:cNvPr id="57" name="Imagen 56">
            <a:extLst>
              <a:ext uri="{FF2B5EF4-FFF2-40B4-BE49-F238E27FC236}">
                <a16:creationId xmlns:a16="http://schemas.microsoft.com/office/drawing/2014/main" id="{20C6F6D4-67A1-4743-B954-1A6D590C3C98}"/>
              </a:ext>
            </a:extLst>
          </p:cNvPr>
          <p:cNvPicPr>
            <a:picLocks noChangeAspect="1"/>
          </p:cNvPicPr>
          <p:nvPr/>
        </p:nvPicPr>
        <p:blipFill rotWithShape="1">
          <a:blip r:embed="rId2"/>
          <a:srcRect l="19592" t="15290" r="14180" b="7768"/>
          <a:stretch/>
        </p:blipFill>
        <p:spPr>
          <a:xfrm>
            <a:off x="1173479" y="1133775"/>
            <a:ext cx="9690263" cy="5276676"/>
          </a:xfrm>
          <a:prstGeom prst="rect">
            <a:avLst/>
          </a:prstGeom>
        </p:spPr>
      </p:pic>
    </p:spTree>
    <p:extLst>
      <p:ext uri="{BB962C8B-B14F-4D97-AF65-F5344CB8AC3E}">
        <p14:creationId xmlns:p14="http://schemas.microsoft.com/office/powerpoint/2010/main" val="38379537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A1A1965-D2FB-475E-9063-8E8734AD0558}"/>
              </a:ext>
            </a:extLst>
          </p:cNvPr>
          <p:cNvSpPr>
            <a:spLocks noGrp="1"/>
          </p:cNvSpPr>
          <p:nvPr>
            <p:ph type="title"/>
          </p:nvPr>
        </p:nvSpPr>
        <p:spPr>
          <a:xfrm>
            <a:off x="253767" y="0"/>
            <a:ext cx="9875520" cy="1356360"/>
          </a:xfrm>
        </p:spPr>
        <p:txBody>
          <a:bodyPr>
            <a:normAutofit/>
          </a:bodyPr>
          <a:lstStyle/>
          <a:p>
            <a:r>
              <a:rPr lang="es-ES" sz="3200" dirty="0">
                <a:latin typeface="Arial" panose="020B0604020202020204" pitchFamily="34" charset="0"/>
                <a:cs typeface="Arial" panose="020B0604020202020204" pitchFamily="34" charset="0"/>
              </a:rPr>
              <a:t>4.</a:t>
            </a:r>
            <a:r>
              <a:rPr lang="es-ES" sz="3200" b="1" dirty="0">
                <a:latin typeface="Arial" panose="020B0604020202020204" pitchFamily="34" charset="0"/>
                <a:cs typeface="Arial" panose="020B0604020202020204" pitchFamily="34" charset="0"/>
              </a:rPr>
              <a:t>DESCANSO, FESTIVOS Y VACACIONES</a:t>
            </a:r>
          </a:p>
        </p:txBody>
      </p:sp>
      <p:sp>
        <p:nvSpPr>
          <p:cNvPr id="15" name="Marcador de contenido 14">
            <a:extLst>
              <a:ext uri="{FF2B5EF4-FFF2-40B4-BE49-F238E27FC236}">
                <a16:creationId xmlns:a16="http://schemas.microsoft.com/office/drawing/2014/main" id="{35F2A2B6-BDB3-4563-8961-12D263615C4C}"/>
              </a:ext>
            </a:extLst>
          </p:cNvPr>
          <p:cNvSpPr>
            <a:spLocks noGrp="1"/>
          </p:cNvSpPr>
          <p:nvPr>
            <p:ph idx="1"/>
          </p:nvPr>
        </p:nvSpPr>
        <p:spPr/>
        <p:txBody>
          <a:bodyPr/>
          <a:lstStyle/>
          <a:p>
            <a:pPr marL="45720" indent="0">
              <a:buNone/>
            </a:pPr>
            <a:endParaRPr lang="es-ES" dirty="0"/>
          </a:p>
          <a:p>
            <a:pPr marL="45720" indent="0">
              <a:buNone/>
            </a:pPr>
            <a:endParaRPr lang="es-ES" dirty="0"/>
          </a:p>
        </p:txBody>
      </p:sp>
      <p:pic>
        <p:nvPicPr>
          <p:cNvPr id="17" name="Imagen 16">
            <a:extLst>
              <a:ext uri="{FF2B5EF4-FFF2-40B4-BE49-F238E27FC236}">
                <a16:creationId xmlns:a16="http://schemas.microsoft.com/office/drawing/2014/main" id="{4AEB7644-C1B4-49CB-B1D4-40AF0FC19A7E}"/>
              </a:ext>
            </a:extLst>
          </p:cNvPr>
          <p:cNvPicPr>
            <a:picLocks noChangeAspect="1"/>
          </p:cNvPicPr>
          <p:nvPr/>
        </p:nvPicPr>
        <p:blipFill rotWithShape="1">
          <a:blip r:embed="rId2"/>
          <a:srcRect l="19748" t="14556" r="13990" b="7523"/>
          <a:stretch/>
        </p:blipFill>
        <p:spPr>
          <a:xfrm>
            <a:off x="1379709" y="948574"/>
            <a:ext cx="9875520" cy="5539335"/>
          </a:xfrm>
          <a:prstGeom prst="rect">
            <a:avLst/>
          </a:prstGeom>
        </p:spPr>
      </p:pic>
    </p:spTree>
    <p:extLst>
      <p:ext uri="{BB962C8B-B14F-4D97-AF65-F5344CB8AC3E}">
        <p14:creationId xmlns:p14="http://schemas.microsoft.com/office/powerpoint/2010/main" val="15952575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E9CBD7-B533-4E18-91B7-18DA6BB19E61}"/>
              </a:ext>
            </a:extLst>
          </p:cNvPr>
          <p:cNvSpPr>
            <a:spLocks noGrp="1"/>
          </p:cNvSpPr>
          <p:nvPr>
            <p:ph type="title"/>
          </p:nvPr>
        </p:nvSpPr>
        <p:spPr>
          <a:xfrm>
            <a:off x="421547" y="0"/>
            <a:ext cx="9875520" cy="1356360"/>
          </a:xfrm>
        </p:spPr>
        <p:txBody>
          <a:bodyPr>
            <a:normAutofit/>
          </a:bodyPr>
          <a:lstStyle/>
          <a:p>
            <a:r>
              <a:rPr lang="es-ES" sz="3200" b="1" dirty="0">
                <a:latin typeface="Arial" panose="020B0604020202020204" pitchFamily="34" charset="0"/>
                <a:cs typeface="Arial" panose="020B0604020202020204" pitchFamily="34" charset="0"/>
              </a:rPr>
              <a:t>5. PERMISOS</a:t>
            </a:r>
          </a:p>
        </p:txBody>
      </p:sp>
      <p:pic>
        <p:nvPicPr>
          <p:cNvPr id="7" name="Imagen 6">
            <a:extLst>
              <a:ext uri="{FF2B5EF4-FFF2-40B4-BE49-F238E27FC236}">
                <a16:creationId xmlns:a16="http://schemas.microsoft.com/office/drawing/2014/main" id="{43A417B4-98D6-4CE6-A788-DD6399AE2346}"/>
              </a:ext>
            </a:extLst>
          </p:cNvPr>
          <p:cNvPicPr>
            <a:picLocks noChangeAspect="1"/>
          </p:cNvPicPr>
          <p:nvPr/>
        </p:nvPicPr>
        <p:blipFill rotWithShape="1">
          <a:blip r:embed="rId2"/>
          <a:srcRect l="19679" t="14723" r="17139" b="7692"/>
          <a:stretch/>
        </p:blipFill>
        <p:spPr>
          <a:xfrm>
            <a:off x="1140903" y="906012"/>
            <a:ext cx="9613783" cy="5461232"/>
          </a:xfrm>
          <a:prstGeom prst="rect">
            <a:avLst/>
          </a:prstGeom>
        </p:spPr>
      </p:pic>
    </p:spTree>
    <p:extLst>
      <p:ext uri="{BB962C8B-B14F-4D97-AF65-F5344CB8AC3E}">
        <p14:creationId xmlns:p14="http://schemas.microsoft.com/office/powerpoint/2010/main" val="35710184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a:extLst>
              <a:ext uri="{FF2B5EF4-FFF2-40B4-BE49-F238E27FC236}">
                <a16:creationId xmlns:a16="http://schemas.microsoft.com/office/drawing/2014/main" id="{176D82E2-2B4F-4ED3-8F10-1FD2C5661D66}"/>
              </a:ext>
            </a:extLst>
          </p:cNvPr>
          <p:cNvPicPr>
            <a:picLocks noGrp="1" noChangeAspect="1"/>
          </p:cNvPicPr>
          <p:nvPr>
            <p:ph idx="1"/>
          </p:nvPr>
        </p:nvPicPr>
        <p:blipFill rotWithShape="1">
          <a:blip r:embed="rId2"/>
          <a:srcRect l="28950" t="18834" r="44727" b="35222"/>
          <a:stretch/>
        </p:blipFill>
        <p:spPr>
          <a:xfrm>
            <a:off x="2449585" y="1015068"/>
            <a:ext cx="7751428" cy="5050172"/>
          </a:xfrm>
        </p:spPr>
      </p:pic>
      <p:sp>
        <p:nvSpPr>
          <p:cNvPr id="6" name="CuadroTexto 5">
            <a:extLst>
              <a:ext uri="{FF2B5EF4-FFF2-40B4-BE49-F238E27FC236}">
                <a16:creationId xmlns:a16="http://schemas.microsoft.com/office/drawing/2014/main" id="{0C5DDC3B-F379-43E8-ACF7-9674DE2D076E}"/>
              </a:ext>
            </a:extLst>
          </p:cNvPr>
          <p:cNvSpPr txBox="1"/>
          <p:nvPr/>
        </p:nvSpPr>
        <p:spPr>
          <a:xfrm>
            <a:off x="1551963" y="343949"/>
            <a:ext cx="7751428" cy="369332"/>
          </a:xfrm>
          <a:prstGeom prst="rect">
            <a:avLst/>
          </a:prstGeom>
          <a:noFill/>
        </p:spPr>
        <p:txBody>
          <a:bodyPr wrap="square" rtlCol="0">
            <a:spAutoFit/>
          </a:bodyPr>
          <a:lstStyle/>
          <a:p>
            <a:r>
              <a:rPr lang="es-ES" dirty="0"/>
              <a:t>EJERCICIOS RESUELTOS</a:t>
            </a:r>
          </a:p>
        </p:txBody>
      </p:sp>
    </p:spTree>
    <p:extLst>
      <p:ext uri="{BB962C8B-B14F-4D97-AF65-F5344CB8AC3E}">
        <p14:creationId xmlns:p14="http://schemas.microsoft.com/office/powerpoint/2010/main" val="3775038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76F28B2-48B6-472A-9CA4-FFD796D6F9AF}"/>
              </a:ext>
            </a:extLst>
          </p:cNvPr>
          <p:cNvSpPr>
            <a:spLocks noGrp="1"/>
          </p:cNvSpPr>
          <p:nvPr>
            <p:ph type="title"/>
          </p:nvPr>
        </p:nvSpPr>
        <p:spPr>
          <a:xfrm>
            <a:off x="142613" y="234892"/>
            <a:ext cx="11585195" cy="6358855"/>
          </a:xfrm>
        </p:spPr>
        <p:txBody>
          <a:bodyPr>
            <a:normAutofit fontScale="90000"/>
          </a:bodyPr>
          <a:lstStyle/>
          <a:p>
            <a:pPr marL="228600" indent="-228600" fontAlgn="base">
              <a:buFont typeface="+mj-lt"/>
              <a:buAutoNum type="arabicPeriod"/>
            </a:pPr>
            <a:r>
              <a:rPr lang="es-ES" sz="1600" b="1" u="sng" dirty="0">
                <a:latin typeface="Arial" panose="020B0604020202020204" pitchFamily="34" charset="0"/>
                <a:cs typeface="Arial" panose="020B0604020202020204" pitchFamily="34" charset="0"/>
              </a:rPr>
              <a:t>ACTIVIDAD</a:t>
            </a:r>
            <a:br>
              <a:rPr lang="es-ES" sz="1300" b="1" i="0" dirty="0">
                <a:effectLst/>
                <a:latin typeface="Arial" panose="020B0604020202020204" pitchFamily="34" charset="0"/>
                <a:cs typeface="Arial" panose="020B0604020202020204" pitchFamily="34" charset="0"/>
              </a:rPr>
            </a:br>
            <a:br>
              <a:rPr lang="es-ES" sz="1300" b="1" i="0" dirty="0">
                <a:effectLst/>
                <a:latin typeface="Arial" panose="020B0604020202020204" pitchFamily="34" charset="0"/>
                <a:cs typeface="Arial" panose="020B0604020202020204" pitchFamily="34" charset="0"/>
              </a:rPr>
            </a:br>
            <a:r>
              <a:rPr lang="es-ES" sz="1300" b="1" i="0" dirty="0">
                <a:effectLst/>
                <a:latin typeface="Arial" panose="020B0604020202020204" pitchFamily="34" charset="0"/>
                <a:cs typeface="Arial" panose="020B0604020202020204" pitchFamily="34" charset="0"/>
              </a:rPr>
              <a:t>1. Indica si las supuestas relaciones siguientes estarán reguladas por el Estatuto de los trabajadores (es decir si constituyen relaciones laborales ordinarias)</a:t>
            </a:r>
            <a:br>
              <a:rPr lang="es-ES" sz="1300" b="1" i="0" dirty="0">
                <a:effectLst/>
                <a:latin typeface="Arial" panose="020B0604020202020204" pitchFamily="34" charset="0"/>
                <a:cs typeface="Arial" panose="020B0604020202020204" pitchFamily="34" charset="0"/>
              </a:rPr>
            </a:br>
            <a:br>
              <a:rPr lang="es-ES" sz="1300" dirty="0">
                <a:latin typeface="Arial" panose="020B0604020202020204" pitchFamily="34" charset="0"/>
                <a:cs typeface="Arial" panose="020B0604020202020204" pitchFamily="34" charset="0"/>
              </a:rPr>
            </a:br>
            <a:r>
              <a:rPr lang="es-ES" sz="1300" dirty="0">
                <a:latin typeface="Arial" panose="020B0604020202020204" pitchFamily="34" charset="0"/>
                <a:cs typeface="Arial" panose="020B0604020202020204" pitchFamily="34" charset="0"/>
              </a:rPr>
              <a:t>1. </a:t>
            </a:r>
            <a:r>
              <a:rPr lang="es-ES" sz="1300" b="0" i="0" dirty="0">
                <a:effectLst/>
                <a:latin typeface="Arial" panose="020B0604020202020204" pitchFamily="34" charset="0"/>
                <a:cs typeface="Arial" panose="020B0604020202020204" pitchFamily="34" charset="0"/>
              </a:rPr>
              <a:t>Rocío que ha estudiado un ciclo de grado medio de comercio va a ayudar a su amigo Pepe a organizar las estanterías de su tienda</a:t>
            </a:r>
            <a:br>
              <a:rPr lang="es-ES" sz="1300" b="0" i="0" dirty="0">
                <a:effectLst/>
                <a:latin typeface="Arial" panose="020B0604020202020204" pitchFamily="34" charset="0"/>
                <a:cs typeface="Arial" panose="020B0604020202020204" pitchFamily="34" charset="0"/>
              </a:rPr>
            </a:br>
            <a:r>
              <a:rPr lang="es-ES" sz="1300" b="0" i="0" dirty="0">
                <a:effectLst/>
                <a:latin typeface="Arial" panose="020B0604020202020204" pitchFamily="34" charset="0"/>
                <a:cs typeface="Arial" panose="020B0604020202020204" pitchFamily="34" charset="0"/>
              </a:rPr>
              <a:t>2. Javier que ha terminado auxiliar administrativo es contratado por su padre en la empresa</a:t>
            </a:r>
            <a:br>
              <a:rPr lang="es-ES" sz="1300" b="0" i="0" dirty="0">
                <a:effectLst/>
                <a:latin typeface="Arial" panose="020B0604020202020204" pitchFamily="34" charset="0"/>
                <a:cs typeface="Arial" panose="020B0604020202020204" pitchFamily="34" charset="0"/>
              </a:rPr>
            </a:br>
            <a:r>
              <a:rPr lang="es-ES" sz="1300" b="0" i="0" dirty="0">
                <a:effectLst/>
                <a:latin typeface="Arial" panose="020B0604020202020204" pitchFamily="34" charset="0"/>
                <a:cs typeface="Arial" panose="020B0604020202020204" pitchFamily="34" charset="0"/>
              </a:rPr>
              <a:t>3. Carlos que estudia auxiliar de clínica va dos tardes por semana a realizar actividades con niños en los hospitales como voluntario de cruz roja</a:t>
            </a:r>
            <a:br>
              <a:rPr lang="es-ES" sz="1300" b="0" i="0" dirty="0">
                <a:effectLst/>
                <a:latin typeface="Arial" panose="020B0604020202020204" pitchFamily="34" charset="0"/>
                <a:cs typeface="Arial" panose="020B0604020202020204" pitchFamily="34" charset="0"/>
              </a:rPr>
            </a:br>
            <a:r>
              <a:rPr lang="es-ES" sz="1300" b="0" i="0" dirty="0">
                <a:effectLst/>
                <a:latin typeface="Arial" panose="020B0604020202020204" pitchFamily="34" charset="0"/>
                <a:cs typeface="Arial" panose="020B0604020202020204" pitchFamily="34" charset="0"/>
              </a:rPr>
              <a:t>4. María que también estudia auxiliar de clínica trabaja todas las tardes en la residencia de ancianos de su tía con un contrato a tiempo parcial</a:t>
            </a:r>
            <a:br>
              <a:rPr lang="es-ES" sz="1300" b="0" i="0" dirty="0">
                <a:effectLst/>
                <a:latin typeface="Arial" panose="020B0604020202020204" pitchFamily="34" charset="0"/>
                <a:cs typeface="Arial" panose="020B0604020202020204" pitchFamily="34" charset="0"/>
              </a:rPr>
            </a:br>
            <a:r>
              <a:rPr lang="es-ES" sz="1300" b="0" i="0" dirty="0">
                <a:effectLst/>
                <a:latin typeface="Arial" panose="020B0604020202020204" pitchFamily="34" charset="0"/>
                <a:cs typeface="Arial" panose="020B0604020202020204" pitchFamily="34" charset="0"/>
              </a:rPr>
              <a:t>5. Eduardo es un transportista profesional propietario de su propio vehículo</a:t>
            </a:r>
            <a:br>
              <a:rPr lang="es-ES" sz="1300" b="0" i="0" dirty="0">
                <a:effectLst/>
                <a:latin typeface="Arial" panose="020B0604020202020204" pitchFamily="34" charset="0"/>
                <a:cs typeface="Arial" panose="020B0604020202020204" pitchFamily="34" charset="0"/>
              </a:rPr>
            </a:br>
            <a:r>
              <a:rPr lang="es-ES" sz="1300" b="0" i="0" dirty="0">
                <a:effectLst/>
                <a:latin typeface="Arial" panose="020B0604020202020204" pitchFamily="34" charset="0"/>
                <a:cs typeface="Arial" panose="020B0604020202020204" pitchFamily="34" charset="0"/>
              </a:rPr>
              <a:t>6. Juan es policía nacional</a:t>
            </a:r>
            <a:br>
              <a:rPr lang="es-ES" sz="1300" b="0" i="0" dirty="0">
                <a:effectLst/>
                <a:latin typeface="Arial" panose="020B0604020202020204" pitchFamily="34" charset="0"/>
                <a:cs typeface="Arial" panose="020B0604020202020204" pitchFamily="34" charset="0"/>
              </a:rPr>
            </a:br>
            <a:r>
              <a:rPr lang="es-ES" sz="1300" b="0" i="0" dirty="0">
                <a:effectLst/>
                <a:latin typeface="Arial" panose="020B0604020202020204" pitchFamily="34" charset="0"/>
                <a:cs typeface="Arial" panose="020B0604020202020204" pitchFamily="34" charset="0"/>
              </a:rPr>
              <a:t>7. Lorena, estudiante de comercio quiere trabajar por las tardes y consigue un puesto de camarera al ser seleccionada por McDonald’s</a:t>
            </a:r>
            <a:br>
              <a:rPr lang="es-ES" sz="1300" b="0" i="0" dirty="0">
                <a:effectLst/>
                <a:latin typeface="Arial" panose="020B0604020202020204" pitchFamily="34" charset="0"/>
                <a:cs typeface="Arial" panose="020B0604020202020204" pitchFamily="34" charset="0"/>
              </a:rPr>
            </a:br>
            <a:r>
              <a:rPr lang="es-ES" sz="1300" b="0" i="0" dirty="0">
                <a:effectLst/>
                <a:latin typeface="Arial" panose="020B0604020202020204" pitchFamily="34" charset="0"/>
                <a:cs typeface="Arial" panose="020B0604020202020204" pitchFamily="34" charset="0"/>
              </a:rPr>
              <a:t>8. Nacho es jugador de golf profesional</a:t>
            </a:r>
            <a:br>
              <a:rPr lang="es-ES" sz="1300" b="0" i="0" dirty="0">
                <a:solidFill>
                  <a:srgbClr val="515151"/>
                </a:solidFill>
                <a:effectLst/>
                <a:latin typeface="Arial" panose="020B0604020202020204" pitchFamily="34" charset="0"/>
                <a:cs typeface="Arial" panose="020B0604020202020204" pitchFamily="34" charset="0"/>
              </a:rPr>
            </a:br>
            <a:br>
              <a:rPr lang="es-ES" sz="1600" b="1" u="sng" dirty="0">
                <a:solidFill>
                  <a:srgbClr val="515151"/>
                </a:solidFill>
                <a:latin typeface="Arial" panose="020B0604020202020204" pitchFamily="34" charset="0"/>
                <a:cs typeface="Arial" panose="020B0604020202020204" pitchFamily="34" charset="0"/>
              </a:rPr>
            </a:br>
            <a:r>
              <a:rPr lang="es-ES" sz="1600" b="1" u="sng" dirty="0">
                <a:solidFill>
                  <a:srgbClr val="515151"/>
                </a:solidFill>
                <a:latin typeface="Arial" panose="020B0604020202020204" pitchFamily="34" charset="0"/>
                <a:cs typeface="Arial" panose="020B0604020202020204" pitchFamily="34" charset="0"/>
              </a:rPr>
              <a:t>2. </a:t>
            </a:r>
            <a:r>
              <a:rPr lang="es-ES" sz="1600" b="1" i="0" u="sng" dirty="0">
                <a:solidFill>
                  <a:srgbClr val="515151"/>
                </a:solidFill>
                <a:effectLst/>
                <a:latin typeface="Arial" panose="020B0604020202020204" pitchFamily="34" charset="0"/>
                <a:cs typeface="Arial" panose="020B0604020202020204" pitchFamily="34" charset="0"/>
              </a:rPr>
              <a:t>ACTIVIDAD</a:t>
            </a:r>
            <a:br>
              <a:rPr lang="es-ES" sz="1300" b="0" i="0" dirty="0">
                <a:solidFill>
                  <a:srgbClr val="515151"/>
                </a:solidFill>
                <a:effectLst/>
                <a:latin typeface="Arial" panose="020B0604020202020204" pitchFamily="34" charset="0"/>
                <a:cs typeface="Arial" panose="020B0604020202020204" pitchFamily="34" charset="0"/>
              </a:rPr>
            </a:br>
            <a:br>
              <a:rPr lang="es-ES" sz="1300" b="1" i="0" dirty="0">
                <a:solidFill>
                  <a:srgbClr val="515151"/>
                </a:solidFill>
                <a:effectLst/>
                <a:latin typeface="Arial" panose="020B0604020202020204" pitchFamily="34" charset="0"/>
                <a:cs typeface="Arial" panose="020B0604020202020204" pitchFamily="34" charset="0"/>
              </a:rPr>
            </a:br>
            <a:br>
              <a:rPr lang="es-ES" sz="1300" b="0" i="0" dirty="0">
                <a:solidFill>
                  <a:srgbClr val="515151"/>
                </a:solidFill>
                <a:effectLst/>
                <a:latin typeface="Arial" panose="020B0604020202020204" pitchFamily="34" charset="0"/>
                <a:cs typeface="Arial" panose="020B0604020202020204" pitchFamily="34" charset="0"/>
              </a:rPr>
            </a:br>
            <a:r>
              <a:rPr lang="es-ES" sz="1300" b="1" i="0" dirty="0">
                <a:solidFill>
                  <a:srgbClr val="515151"/>
                </a:solidFill>
                <a:effectLst/>
                <a:latin typeface="Arial" panose="020B0604020202020204" pitchFamily="34" charset="0"/>
                <a:cs typeface="Arial" panose="020B0604020202020204" pitchFamily="34" charset="0"/>
              </a:rPr>
              <a:t>1.- EL TRABAJO REGULADO POR EL DERECHO LABORAL ES:</a:t>
            </a:r>
            <a:br>
              <a:rPr lang="es-ES" sz="1300" b="0" i="0" dirty="0">
                <a:solidFill>
                  <a:srgbClr val="515151"/>
                </a:solidFill>
                <a:effectLst/>
                <a:latin typeface="Arial" panose="020B0604020202020204" pitchFamily="34" charset="0"/>
                <a:cs typeface="Arial" panose="020B0604020202020204" pitchFamily="34" charset="0"/>
              </a:rPr>
            </a:br>
            <a:r>
              <a:rPr lang="es-ES" sz="1300" b="0" i="0" dirty="0">
                <a:solidFill>
                  <a:srgbClr val="515151"/>
                </a:solidFill>
                <a:effectLst/>
                <a:latin typeface="Arial" panose="020B0604020202020204" pitchFamily="34" charset="0"/>
                <a:cs typeface="Arial" panose="020B0604020202020204" pitchFamily="34" charset="0"/>
              </a:rPr>
              <a:t>A. Personal</a:t>
            </a:r>
            <a:br>
              <a:rPr lang="es-ES" sz="1300" b="0" i="0" dirty="0">
                <a:solidFill>
                  <a:srgbClr val="515151"/>
                </a:solidFill>
                <a:effectLst/>
                <a:latin typeface="Arial" panose="020B0604020202020204" pitchFamily="34" charset="0"/>
                <a:cs typeface="Arial" panose="020B0604020202020204" pitchFamily="34" charset="0"/>
              </a:rPr>
            </a:br>
            <a:r>
              <a:rPr lang="es-ES" sz="1300" b="0" i="0" dirty="0">
                <a:solidFill>
                  <a:srgbClr val="515151"/>
                </a:solidFill>
                <a:effectLst/>
                <a:latin typeface="Arial" panose="020B0604020202020204" pitchFamily="34" charset="0"/>
                <a:cs typeface="Arial" panose="020B0604020202020204" pitchFamily="34" charset="0"/>
              </a:rPr>
              <a:t>B. Voluntario</a:t>
            </a:r>
            <a:br>
              <a:rPr lang="es-ES" sz="1300" b="0" i="0" dirty="0">
                <a:solidFill>
                  <a:srgbClr val="515151"/>
                </a:solidFill>
                <a:effectLst/>
                <a:latin typeface="Arial" panose="020B0604020202020204" pitchFamily="34" charset="0"/>
                <a:cs typeface="Arial" panose="020B0604020202020204" pitchFamily="34" charset="0"/>
              </a:rPr>
            </a:br>
            <a:r>
              <a:rPr lang="es-ES" sz="1300" b="0" i="0" dirty="0">
                <a:solidFill>
                  <a:srgbClr val="515151"/>
                </a:solidFill>
                <a:effectLst/>
                <a:latin typeface="Arial" panose="020B0604020202020204" pitchFamily="34" charset="0"/>
                <a:cs typeface="Arial" panose="020B0604020202020204" pitchFamily="34" charset="0"/>
              </a:rPr>
              <a:t>C. Por cuenta propia</a:t>
            </a:r>
            <a:br>
              <a:rPr lang="es-ES" sz="1300" b="0" i="0" dirty="0">
                <a:solidFill>
                  <a:srgbClr val="515151"/>
                </a:solidFill>
                <a:effectLst/>
                <a:latin typeface="Arial" panose="020B0604020202020204" pitchFamily="34" charset="0"/>
                <a:cs typeface="Arial" panose="020B0604020202020204" pitchFamily="34" charset="0"/>
              </a:rPr>
            </a:br>
            <a:r>
              <a:rPr lang="es-ES" sz="1300" b="0" i="0" dirty="0">
                <a:solidFill>
                  <a:srgbClr val="515151"/>
                </a:solidFill>
                <a:effectLst/>
                <a:latin typeface="Arial" panose="020B0604020202020204" pitchFamily="34" charset="0"/>
                <a:cs typeface="Arial" panose="020B0604020202020204" pitchFamily="34" charset="0"/>
              </a:rPr>
              <a:t>D. a) y b) son correctas</a:t>
            </a:r>
            <a:br>
              <a:rPr lang="es-ES" sz="1300" b="0" i="0" dirty="0">
                <a:solidFill>
                  <a:srgbClr val="515151"/>
                </a:solidFill>
                <a:effectLst/>
                <a:latin typeface="Arial" panose="020B0604020202020204" pitchFamily="34" charset="0"/>
                <a:cs typeface="Arial" panose="020B0604020202020204" pitchFamily="34" charset="0"/>
              </a:rPr>
            </a:br>
            <a:br>
              <a:rPr lang="es-ES" sz="1300" b="0" i="0" dirty="0">
                <a:solidFill>
                  <a:srgbClr val="515151"/>
                </a:solidFill>
                <a:effectLst/>
                <a:latin typeface="Arial" panose="020B0604020202020204" pitchFamily="34" charset="0"/>
                <a:cs typeface="Arial" panose="020B0604020202020204" pitchFamily="34" charset="0"/>
              </a:rPr>
            </a:br>
            <a:r>
              <a:rPr lang="es-ES" sz="1300" b="1" i="0" dirty="0">
                <a:solidFill>
                  <a:srgbClr val="515151"/>
                </a:solidFill>
                <a:effectLst/>
                <a:latin typeface="Arial" panose="020B0604020202020204" pitchFamily="34" charset="0"/>
                <a:cs typeface="Arial" panose="020B0604020202020204" pitchFamily="34" charset="0"/>
              </a:rPr>
              <a:t>2.-SEÑALA CUAL DE LAS SIGUIENTES CARACTERÍSTICAS NO ES PROPIA DEL TRABAJO REGULADO POR EL DERECHO LABORAL:</a:t>
            </a:r>
            <a:br>
              <a:rPr lang="es-ES" sz="1300" b="0" i="0" dirty="0">
                <a:solidFill>
                  <a:srgbClr val="515151"/>
                </a:solidFill>
                <a:effectLst/>
                <a:latin typeface="Arial" panose="020B0604020202020204" pitchFamily="34" charset="0"/>
                <a:cs typeface="Arial" panose="020B0604020202020204" pitchFamily="34" charset="0"/>
              </a:rPr>
            </a:br>
            <a:r>
              <a:rPr lang="es-ES" sz="1300" b="0" i="0" dirty="0">
                <a:solidFill>
                  <a:srgbClr val="515151"/>
                </a:solidFill>
                <a:effectLst/>
                <a:latin typeface="Arial" panose="020B0604020202020204" pitchFamily="34" charset="0"/>
                <a:cs typeface="Arial" panose="020B0604020202020204" pitchFamily="34" charset="0"/>
              </a:rPr>
              <a:t>A. Por cuenta ajena</a:t>
            </a:r>
            <a:br>
              <a:rPr lang="es-ES" sz="1300" b="0" i="0" dirty="0">
                <a:solidFill>
                  <a:srgbClr val="515151"/>
                </a:solidFill>
                <a:effectLst/>
                <a:latin typeface="Arial" panose="020B0604020202020204" pitchFamily="34" charset="0"/>
                <a:cs typeface="Arial" panose="020B0604020202020204" pitchFamily="34" charset="0"/>
              </a:rPr>
            </a:br>
            <a:r>
              <a:rPr lang="es-ES" sz="1300" b="0" i="0" dirty="0">
                <a:solidFill>
                  <a:srgbClr val="515151"/>
                </a:solidFill>
                <a:effectLst/>
                <a:latin typeface="Arial" panose="020B0604020202020204" pitchFamily="34" charset="0"/>
                <a:cs typeface="Arial" panose="020B0604020202020204" pitchFamily="34" charset="0"/>
              </a:rPr>
              <a:t>B. Remunerado</a:t>
            </a:r>
            <a:br>
              <a:rPr lang="es-ES" sz="1300" b="0" i="0" dirty="0">
                <a:solidFill>
                  <a:srgbClr val="515151"/>
                </a:solidFill>
                <a:effectLst/>
                <a:latin typeface="Arial" panose="020B0604020202020204" pitchFamily="34" charset="0"/>
                <a:cs typeface="Arial" panose="020B0604020202020204" pitchFamily="34" charset="0"/>
              </a:rPr>
            </a:br>
            <a:r>
              <a:rPr lang="es-ES" sz="1300" b="0" i="0" dirty="0">
                <a:solidFill>
                  <a:srgbClr val="515151"/>
                </a:solidFill>
                <a:effectLst/>
                <a:latin typeface="Arial" panose="020B0604020202020204" pitchFamily="34" charset="0"/>
                <a:cs typeface="Arial" panose="020B0604020202020204" pitchFamily="34" charset="0"/>
              </a:rPr>
              <a:t>C. Voluntario</a:t>
            </a:r>
            <a:br>
              <a:rPr lang="es-ES" sz="1300" b="0" i="0" dirty="0">
                <a:solidFill>
                  <a:srgbClr val="515151"/>
                </a:solidFill>
                <a:effectLst/>
                <a:latin typeface="Arial" panose="020B0604020202020204" pitchFamily="34" charset="0"/>
                <a:cs typeface="Arial" panose="020B0604020202020204" pitchFamily="34" charset="0"/>
              </a:rPr>
            </a:br>
            <a:r>
              <a:rPr lang="es-ES" sz="1300" b="0" i="0" dirty="0">
                <a:solidFill>
                  <a:srgbClr val="515151"/>
                </a:solidFill>
                <a:effectLst/>
                <a:latin typeface="Arial" panose="020B0604020202020204" pitchFamily="34" charset="0"/>
                <a:cs typeface="Arial" panose="020B0604020202020204" pitchFamily="34" charset="0"/>
              </a:rPr>
              <a:t>D. Por cuenta propia.</a:t>
            </a:r>
            <a:br>
              <a:rPr lang="es-ES" sz="1300" b="0" i="0" dirty="0">
                <a:solidFill>
                  <a:srgbClr val="515151"/>
                </a:solidFill>
                <a:effectLst/>
                <a:latin typeface="Arial" panose="020B0604020202020204" pitchFamily="34" charset="0"/>
                <a:cs typeface="Arial" panose="020B0604020202020204" pitchFamily="34" charset="0"/>
              </a:rPr>
            </a:br>
            <a:br>
              <a:rPr lang="es-ES" sz="1300" b="0" i="0" dirty="0">
                <a:solidFill>
                  <a:srgbClr val="515151"/>
                </a:solidFill>
                <a:effectLst/>
                <a:latin typeface="Arial" panose="020B0604020202020204" pitchFamily="34" charset="0"/>
                <a:cs typeface="Arial" panose="020B0604020202020204" pitchFamily="34" charset="0"/>
              </a:rPr>
            </a:br>
            <a:r>
              <a:rPr lang="es-ES" sz="1300" b="1" i="0" dirty="0">
                <a:solidFill>
                  <a:srgbClr val="515151"/>
                </a:solidFill>
                <a:effectLst/>
                <a:latin typeface="Arial" panose="020B0604020202020204" pitchFamily="34" charset="0"/>
                <a:cs typeface="Arial" panose="020B0604020202020204" pitchFamily="34" charset="0"/>
              </a:rPr>
              <a:t>3.- LA CARACTERÍSTICA POR LA CUAL LOS RESULTADOS QUE OBTIENE EL TRABAJADOR SON PARA EL EMPRESARIO TRABAJO SE RELACIONA CON LA CARACTERÍSTICA </a:t>
            </a:r>
            <a:br>
              <a:rPr lang="es-ES" sz="1300" b="0" i="0" dirty="0">
                <a:solidFill>
                  <a:srgbClr val="515151"/>
                </a:solidFill>
                <a:effectLst/>
                <a:latin typeface="Arial" panose="020B0604020202020204" pitchFamily="34" charset="0"/>
                <a:cs typeface="Arial" panose="020B0604020202020204" pitchFamily="34" charset="0"/>
              </a:rPr>
            </a:br>
            <a:r>
              <a:rPr lang="es-ES" sz="1300" b="0" i="0" dirty="0" err="1">
                <a:solidFill>
                  <a:srgbClr val="515151"/>
                </a:solidFill>
                <a:effectLst/>
                <a:latin typeface="Arial" panose="020B0604020202020204" pitchFamily="34" charset="0"/>
                <a:cs typeface="Arial" panose="020B0604020202020204" pitchFamily="34" charset="0"/>
              </a:rPr>
              <a:t>A.Trabajo</a:t>
            </a:r>
            <a:r>
              <a:rPr lang="es-ES" sz="1300" b="0" i="0" dirty="0">
                <a:solidFill>
                  <a:srgbClr val="515151"/>
                </a:solidFill>
                <a:effectLst/>
                <a:latin typeface="Arial" panose="020B0604020202020204" pitchFamily="34" charset="0"/>
                <a:cs typeface="Arial" panose="020B0604020202020204" pitchFamily="34" charset="0"/>
              </a:rPr>
              <a:t> obligatorio</a:t>
            </a:r>
            <a:br>
              <a:rPr lang="es-ES" sz="1300" b="0" i="0" dirty="0">
                <a:solidFill>
                  <a:srgbClr val="515151"/>
                </a:solidFill>
                <a:effectLst/>
                <a:latin typeface="Arial" panose="020B0604020202020204" pitchFamily="34" charset="0"/>
                <a:cs typeface="Arial" panose="020B0604020202020204" pitchFamily="34" charset="0"/>
              </a:rPr>
            </a:br>
            <a:r>
              <a:rPr lang="es-ES" sz="1300" b="0" i="0" dirty="0" err="1">
                <a:solidFill>
                  <a:srgbClr val="515151"/>
                </a:solidFill>
                <a:effectLst/>
                <a:latin typeface="Arial" panose="020B0604020202020204" pitchFamily="34" charset="0"/>
                <a:cs typeface="Arial" panose="020B0604020202020204" pitchFamily="34" charset="0"/>
              </a:rPr>
              <a:t>B.Trabajo</a:t>
            </a:r>
            <a:r>
              <a:rPr lang="es-ES" sz="1300" b="0" i="0" dirty="0">
                <a:solidFill>
                  <a:srgbClr val="515151"/>
                </a:solidFill>
                <a:effectLst/>
                <a:latin typeface="Arial" panose="020B0604020202020204" pitchFamily="34" charset="0"/>
                <a:cs typeface="Arial" panose="020B0604020202020204" pitchFamily="34" charset="0"/>
              </a:rPr>
              <a:t> dependiente</a:t>
            </a:r>
            <a:br>
              <a:rPr lang="es-ES" sz="1300" b="0" i="0" dirty="0">
                <a:solidFill>
                  <a:srgbClr val="515151"/>
                </a:solidFill>
                <a:effectLst/>
                <a:latin typeface="Arial" panose="020B0604020202020204" pitchFamily="34" charset="0"/>
                <a:cs typeface="Arial" panose="020B0604020202020204" pitchFamily="34" charset="0"/>
              </a:rPr>
            </a:br>
            <a:r>
              <a:rPr lang="es-ES" sz="1300" b="0" i="0" dirty="0" err="1">
                <a:solidFill>
                  <a:srgbClr val="515151"/>
                </a:solidFill>
                <a:effectLst/>
                <a:latin typeface="Arial" panose="020B0604020202020204" pitchFamily="34" charset="0"/>
                <a:cs typeface="Arial" panose="020B0604020202020204" pitchFamily="34" charset="0"/>
              </a:rPr>
              <a:t>C.Trabajo</a:t>
            </a:r>
            <a:r>
              <a:rPr lang="es-ES" sz="1300" b="0" i="0" dirty="0">
                <a:solidFill>
                  <a:srgbClr val="515151"/>
                </a:solidFill>
                <a:effectLst/>
                <a:latin typeface="Arial" panose="020B0604020202020204" pitchFamily="34" charset="0"/>
                <a:cs typeface="Arial" panose="020B0604020202020204" pitchFamily="34" charset="0"/>
              </a:rPr>
              <a:t> retribuido</a:t>
            </a:r>
            <a:br>
              <a:rPr lang="es-ES" sz="1300" b="0" i="0" dirty="0">
                <a:solidFill>
                  <a:srgbClr val="515151"/>
                </a:solidFill>
                <a:effectLst/>
                <a:latin typeface="Arial" panose="020B0604020202020204" pitchFamily="34" charset="0"/>
                <a:cs typeface="Arial" panose="020B0604020202020204" pitchFamily="34" charset="0"/>
              </a:rPr>
            </a:br>
            <a:r>
              <a:rPr lang="es-ES" sz="1300" b="0" i="0" dirty="0" err="1">
                <a:solidFill>
                  <a:srgbClr val="515151"/>
                </a:solidFill>
                <a:effectLst/>
                <a:latin typeface="Arial" panose="020B0604020202020204" pitchFamily="34" charset="0"/>
                <a:cs typeface="Arial" panose="020B0604020202020204" pitchFamily="34" charset="0"/>
              </a:rPr>
              <a:t>D.Trabajo</a:t>
            </a:r>
            <a:r>
              <a:rPr lang="es-ES" sz="1300" b="0" i="0" dirty="0">
                <a:solidFill>
                  <a:srgbClr val="515151"/>
                </a:solidFill>
                <a:effectLst/>
                <a:latin typeface="Arial" panose="020B0604020202020204" pitchFamily="34" charset="0"/>
                <a:cs typeface="Arial" panose="020B0604020202020204" pitchFamily="34" charset="0"/>
              </a:rPr>
              <a:t> por cuenta ajena</a:t>
            </a:r>
            <a:br>
              <a:rPr lang="es-ES" sz="1300" b="0" i="0" dirty="0">
                <a:solidFill>
                  <a:srgbClr val="515151"/>
                </a:solidFill>
                <a:effectLst/>
                <a:latin typeface="Arial" panose="020B0604020202020204" pitchFamily="34" charset="0"/>
                <a:cs typeface="Arial" panose="020B0604020202020204" pitchFamily="34" charset="0"/>
              </a:rPr>
            </a:br>
            <a:br>
              <a:rPr lang="es-ES" sz="1300" b="0" i="0" dirty="0">
                <a:solidFill>
                  <a:srgbClr val="515151"/>
                </a:solidFill>
                <a:effectLst/>
                <a:latin typeface="Arial" panose="020B0604020202020204" pitchFamily="34" charset="0"/>
                <a:cs typeface="Arial" panose="020B0604020202020204" pitchFamily="34" charset="0"/>
              </a:rPr>
            </a:br>
            <a:endParaRPr lang="es-ES" sz="13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827289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CA8E54E1-CC3C-43AC-ADED-4D69B6379DEE}"/>
              </a:ext>
            </a:extLst>
          </p:cNvPr>
          <p:cNvSpPr>
            <a:spLocks noGrp="1"/>
          </p:cNvSpPr>
          <p:nvPr>
            <p:ph idx="1"/>
          </p:nvPr>
        </p:nvSpPr>
        <p:spPr>
          <a:xfrm>
            <a:off x="318782" y="503339"/>
            <a:ext cx="10697089" cy="6199465"/>
          </a:xfrm>
        </p:spPr>
        <p:txBody>
          <a:bodyPr>
            <a:normAutofit/>
          </a:bodyPr>
          <a:lstStyle/>
          <a:p>
            <a:r>
              <a:rPr lang="es-ES" sz="1400" b="1" i="0" dirty="0">
                <a:solidFill>
                  <a:srgbClr val="515151"/>
                </a:solidFill>
                <a:effectLst/>
                <a:latin typeface="Arial" panose="020B0604020202020204" pitchFamily="34" charset="0"/>
                <a:cs typeface="Arial" panose="020B0604020202020204" pitchFamily="34" charset="0"/>
              </a:rPr>
              <a:t>4.- DESDE EL PUNTO DE VISTA DEL TRABAJADOR LA CARACTERÍSTICA POR LA CUAL ÉSTE TIENE QUE ACEPTAR LAS ÓRDENES Y DIRECCIÓN DEL TRABAJO SE DENOMINA</a:t>
            </a:r>
            <a:br>
              <a:rPr lang="es-ES" sz="1400" b="0" i="0" dirty="0">
                <a:solidFill>
                  <a:srgbClr val="515151"/>
                </a:solidFill>
                <a:effectLst/>
                <a:latin typeface="Arial" panose="020B0604020202020204" pitchFamily="34" charset="0"/>
                <a:cs typeface="Arial" panose="020B0604020202020204" pitchFamily="34" charset="0"/>
              </a:rPr>
            </a:br>
            <a:r>
              <a:rPr lang="es-ES" sz="1400" b="0" i="0" dirty="0" err="1">
                <a:solidFill>
                  <a:srgbClr val="515151"/>
                </a:solidFill>
                <a:effectLst/>
                <a:latin typeface="Arial" panose="020B0604020202020204" pitchFamily="34" charset="0"/>
                <a:cs typeface="Arial" panose="020B0604020202020204" pitchFamily="34" charset="0"/>
              </a:rPr>
              <a:t>A.Voluntariedad</a:t>
            </a:r>
            <a:br>
              <a:rPr lang="es-ES" sz="1400" b="0" i="0" dirty="0">
                <a:solidFill>
                  <a:srgbClr val="515151"/>
                </a:solidFill>
                <a:effectLst/>
                <a:latin typeface="Arial" panose="020B0604020202020204" pitchFamily="34" charset="0"/>
                <a:cs typeface="Arial" panose="020B0604020202020204" pitchFamily="34" charset="0"/>
              </a:rPr>
            </a:br>
            <a:r>
              <a:rPr lang="es-ES" sz="1400" b="0" i="0" dirty="0" err="1">
                <a:solidFill>
                  <a:srgbClr val="515151"/>
                </a:solidFill>
                <a:effectLst/>
                <a:latin typeface="Arial" panose="020B0604020202020204" pitchFamily="34" charset="0"/>
                <a:cs typeface="Arial" panose="020B0604020202020204" pitchFamily="34" charset="0"/>
              </a:rPr>
              <a:t>B.Dependencia</a:t>
            </a:r>
            <a:br>
              <a:rPr lang="es-ES" sz="1400" b="0" i="0" dirty="0">
                <a:solidFill>
                  <a:srgbClr val="515151"/>
                </a:solidFill>
                <a:effectLst/>
                <a:latin typeface="Arial" panose="020B0604020202020204" pitchFamily="34" charset="0"/>
                <a:cs typeface="Arial" panose="020B0604020202020204" pitchFamily="34" charset="0"/>
              </a:rPr>
            </a:br>
            <a:r>
              <a:rPr lang="es-ES" sz="1400" b="0" i="0" dirty="0" err="1">
                <a:solidFill>
                  <a:srgbClr val="515151"/>
                </a:solidFill>
                <a:effectLst/>
                <a:latin typeface="Arial" panose="020B0604020202020204" pitchFamily="34" charset="0"/>
                <a:cs typeface="Arial" panose="020B0604020202020204" pitchFamily="34" charset="0"/>
              </a:rPr>
              <a:t>C.Ajenidad</a:t>
            </a:r>
            <a:br>
              <a:rPr lang="es-ES" sz="1400" b="0" i="0" dirty="0">
                <a:solidFill>
                  <a:srgbClr val="515151"/>
                </a:solidFill>
                <a:effectLst/>
                <a:latin typeface="Arial" panose="020B0604020202020204" pitchFamily="34" charset="0"/>
                <a:cs typeface="Arial" panose="020B0604020202020204" pitchFamily="34" charset="0"/>
              </a:rPr>
            </a:br>
            <a:r>
              <a:rPr lang="es-ES" sz="1400" b="0" i="0" dirty="0" err="1">
                <a:solidFill>
                  <a:srgbClr val="515151"/>
                </a:solidFill>
                <a:effectLst/>
                <a:latin typeface="Arial" panose="020B0604020202020204" pitchFamily="34" charset="0"/>
                <a:cs typeface="Arial" panose="020B0604020202020204" pitchFamily="34" charset="0"/>
              </a:rPr>
              <a:t>D.Ninguna</a:t>
            </a:r>
            <a:r>
              <a:rPr lang="es-ES" sz="1400" b="0" i="0" dirty="0">
                <a:solidFill>
                  <a:srgbClr val="515151"/>
                </a:solidFill>
                <a:effectLst/>
                <a:latin typeface="Arial" panose="020B0604020202020204" pitchFamily="34" charset="0"/>
                <a:cs typeface="Arial" panose="020B0604020202020204" pitchFamily="34" charset="0"/>
              </a:rPr>
              <a:t> de las anteriores es correcta.</a:t>
            </a:r>
            <a:br>
              <a:rPr lang="es-ES" sz="1400" b="0" i="0" dirty="0">
                <a:solidFill>
                  <a:srgbClr val="515151"/>
                </a:solidFill>
                <a:effectLst/>
                <a:latin typeface="Arial" panose="020B0604020202020204" pitchFamily="34" charset="0"/>
                <a:cs typeface="Arial" panose="020B0604020202020204" pitchFamily="34" charset="0"/>
              </a:rPr>
            </a:br>
            <a:br>
              <a:rPr lang="es-ES" sz="1400" b="0" i="0" dirty="0">
                <a:solidFill>
                  <a:srgbClr val="515151"/>
                </a:solidFill>
                <a:effectLst/>
                <a:latin typeface="Arial" panose="020B0604020202020204" pitchFamily="34" charset="0"/>
                <a:cs typeface="Arial" panose="020B0604020202020204" pitchFamily="34" charset="0"/>
              </a:rPr>
            </a:br>
            <a:r>
              <a:rPr lang="es-ES" sz="1400" b="1" i="0" dirty="0">
                <a:solidFill>
                  <a:srgbClr val="515151"/>
                </a:solidFill>
                <a:effectLst/>
                <a:latin typeface="Arial" panose="020B0604020202020204" pitchFamily="34" charset="0"/>
                <a:cs typeface="Arial" panose="020B0604020202020204" pitchFamily="34" charset="0"/>
              </a:rPr>
              <a:t>5.- EL TRABAJO CONSTITUTIVO DE LAS RELACIONES LABORALES, ES UN TRABAJO VOLUNTARIO:</a:t>
            </a:r>
            <a:br>
              <a:rPr lang="es-ES" sz="1400" b="0" i="0" dirty="0">
                <a:solidFill>
                  <a:srgbClr val="515151"/>
                </a:solidFill>
                <a:effectLst/>
                <a:latin typeface="Arial" panose="020B0604020202020204" pitchFamily="34" charset="0"/>
                <a:cs typeface="Arial" panose="020B0604020202020204" pitchFamily="34" charset="0"/>
              </a:rPr>
            </a:br>
            <a:r>
              <a:rPr lang="es-ES" sz="1400" b="0" i="0" dirty="0" err="1">
                <a:solidFill>
                  <a:srgbClr val="515151"/>
                </a:solidFill>
                <a:effectLst/>
                <a:latin typeface="Arial" panose="020B0604020202020204" pitchFamily="34" charset="0"/>
                <a:cs typeface="Arial" panose="020B0604020202020204" pitchFamily="34" charset="0"/>
              </a:rPr>
              <a:t>A.Únicamente</a:t>
            </a:r>
            <a:r>
              <a:rPr lang="es-ES" sz="1400" b="0" i="0" dirty="0">
                <a:solidFill>
                  <a:srgbClr val="515151"/>
                </a:solidFill>
                <a:effectLst/>
                <a:latin typeface="Arial" panose="020B0604020202020204" pitchFamily="34" charset="0"/>
                <a:cs typeface="Arial" panose="020B0604020202020204" pitchFamily="34" charset="0"/>
              </a:rPr>
              <a:t> si no se ha firmado el contrato de trabajo</a:t>
            </a:r>
            <a:br>
              <a:rPr lang="es-ES" sz="1400" b="0" i="0" dirty="0">
                <a:solidFill>
                  <a:srgbClr val="515151"/>
                </a:solidFill>
                <a:effectLst/>
                <a:latin typeface="Arial" panose="020B0604020202020204" pitchFamily="34" charset="0"/>
                <a:cs typeface="Arial" panose="020B0604020202020204" pitchFamily="34" charset="0"/>
              </a:rPr>
            </a:br>
            <a:r>
              <a:rPr lang="es-ES" sz="1400" b="0" i="0" dirty="0" err="1">
                <a:solidFill>
                  <a:srgbClr val="515151"/>
                </a:solidFill>
                <a:effectLst/>
                <a:latin typeface="Arial" panose="020B0604020202020204" pitchFamily="34" charset="0"/>
                <a:cs typeface="Arial" panose="020B0604020202020204" pitchFamily="34" charset="0"/>
              </a:rPr>
              <a:t>B.Nunca</a:t>
            </a:r>
            <a:br>
              <a:rPr lang="es-ES" sz="1400" b="0" i="0" dirty="0">
                <a:solidFill>
                  <a:srgbClr val="515151"/>
                </a:solidFill>
                <a:effectLst/>
                <a:latin typeface="Arial" panose="020B0604020202020204" pitchFamily="34" charset="0"/>
                <a:cs typeface="Arial" panose="020B0604020202020204" pitchFamily="34" charset="0"/>
              </a:rPr>
            </a:br>
            <a:r>
              <a:rPr lang="es-ES" sz="1400" b="0" i="0" dirty="0" err="1">
                <a:solidFill>
                  <a:srgbClr val="515151"/>
                </a:solidFill>
                <a:effectLst/>
                <a:latin typeface="Arial" panose="020B0604020202020204" pitchFamily="34" charset="0"/>
                <a:cs typeface="Arial" panose="020B0604020202020204" pitchFamily="34" charset="0"/>
              </a:rPr>
              <a:t>C.Siempre</a:t>
            </a:r>
            <a:br>
              <a:rPr lang="es-ES" sz="1400" b="0" i="0" dirty="0">
                <a:solidFill>
                  <a:srgbClr val="515151"/>
                </a:solidFill>
                <a:effectLst/>
                <a:latin typeface="Arial" panose="020B0604020202020204" pitchFamily="34" charset="0"/>
                <a:cs typeface="Arial" panose="020B0604020202020204" pitchFamily="34" charset="0"/>
              </a:rPr>
            </a:br>
            <a:r>
              <a:rPr lang="es-ES" sz="1400" b="0" i="0" dirty="0" err="1">
                <a:solidFill>
                  <a:srgbClr val="515151"/>
                </a:solidFill>
                <a:effectLst/>
                <a:latin typeface="Arial" panose="020B0604020202020204" pitchFamily="34" charset="0"/>
                <a:cs typeface="Arial" panose="020B0604020202020204" pitchFamily="34" charset="0"/>
              </a:rPr>
              <a:t>D.Depende</a:t>
            </a:r>
            <a:r>
              <a:rPr lang="es-ES" sz="1400" b="0" i="0" dirty="0">
                <a:solidFill>
                  <a:srgbClr val="515151"/>
                </a:solidFill>
                <a:effectLst/>
                <a:latin typeface="Arial" panose="020B0604020202020204" pitchFamily="34" charset="0"/>
                <a:cs typeface="Arial" panose="020B0604020202020204" pitchFamily="34" charset="0"/>
              </a:rPr>
              <a:t> de cada caso en la relación laboral</a:t>
            </a:r>
            <a:br>
              <a:rPr lang="es-ES" sz="1400" b="0" i="0" dirty="0">
                <a:solidFill>
                  <a:srgbClr val="515151"/>
                </a:solidFill>
                <a:effectLst/>
                <a:latin typeface="Arial" panose="020B0604020202020204" pitchFamily="34" charset="0"/>
                <a:cs typeface="Arial" panose="020B0604020202020204" pitchFamily="34" charset="0"/>
              </a:rPr>
            </a:br>
            <a:br>
              <a:rPr lang="es-ES" sz="1400" b="0" i="0" dirty="0">
                <a:solidFill>
                  <a:srgbClr val="515151"/>
                </a:solidFill>
                <a:effectLst/>
                <a:latin typeface="Arial" panose="020B0604020202020204" pitchFamily="34" charset="0"/>
                <a:cs typeface="Arial" panose="020B0604020202020204" pitchFamily="34" charset="0"/>
              </a:rPr>
            </a:br>
            <a:br>
              <a:rPr lang="es-ES" sz="1400" b="0" i="0" dirty="0">
                <a:solidFill>
                  <a:srgbClr val="515151"/>
                </a:solidFill>
                <a:effectLst/>
                <a:latin typeface="Arial" panose="020B0604020202020204" pitchFamily="34" charset="0"/>
                <a:cs typeface="Arial" panose="020B0604020202020204" pitchFamily="34" charset="0"/>
              </a:rPr>
            </a:br>
            <a:r>
              <a:rPr lang="es-ES" sz="1400" b="1" i="0" dirty="0">
                <a:solidFill>
                  <a:srgbClr val="515151"/>
                </a:solidFill>
                <a:effectLst/>
                <a:latin typeface="Arial" panose="020B0604020202020204" pitchFamily="34" charset="0"/>
                <a:cs typeface="Arial" panose="020B0604020202020204" pitchFamily="34" charset="0"/>
              </a:rPr>
              <a:t>6.- UN CONVENIO COLECTIVO NO PUEDE ESTABLECER CONDICIONES PEORES QUE LAS ESTABLECIDAS EN LA LEY:</a:t>
            </a:r>
            <a:br>
              <a:rPr lang="es-ES" sz="1400" b="0" i="0" dirty="0">
                <a:solidFill>
                  <a:srgbClr val="515151"/>
                </a:solidFill>
                <a:effectLst/>
                <a:latin typeface="Arial" panose="020B0604020202020204" pitchFamily="34" charset="0"/>
                <a:cs typeface="Arial" panose="020B0604020202020204" pitchFamily="34" charset="0"/>
              </a:rPr>
            </a:br>
            <a:r>
              <a:rPr lang="es-ES" sz="1400" b="0" i="0" dirty="0">
                <a:solidFill>
                  <a:srgbClr val="515151"/>
                </a:solidFill>
                <a:effectLst/>
                <a:latin typeface="Arial" panose="020B0604020202020204" pitchFamily="34" charset="0"/>
                <a:cs typeface="Arial" panose="020B0604020202020204" pitchFamily="34" charset="0"/>
              </a:rPr>
              <a:t>A. En ningún caso</a:t>
            </a:r>
            <a:br>
              <a:rPr lang="es-ES" sz="1400" b="0" i="0" dirty="0">
                <a:solidFill>
                  <a:srgbClr val="515151"/>
                </a:solidFill>
                <a:effectLst/>
                <a:latin typeface="Arial" panose="020B0604020202020204" pitchFamily="34" charset="0"/>
                <a:cs typeface="Arial" panose="020B0604020202020204" pitchFamily="34" charset="0"/>
              </a:rPr>
            </a:br>
            <a:r>
              <a:rPr lang="es-ES" sz="1400" b="0" i="0" dirty="0">
                <a:solidFill>
                  <a:srgbClr val="515151"/>
                </a:solidFill>
                <a:effectLst/>
                <a:latin typeface="Arial" panose="020B0604020202020204" pitchFamily="34" charset="0"/>
                <a:cs typeface="Arial" panose="020B0604020202020204" pitchFamily="34" charset="0"/>
              </a:rPr>
              <a:t>B. Salvo que lo decidan así los trabajadores a los que se le aplica</a:t>
            </a:r>
            <a:br>
              <a:rPr lang="es-ES" sz="1400" b="0" i="0" dirty="0">
                <a:solidFill>
                  <a:srgbClr val="515151"/>
                </a:solidFill>
                <a:effectLst/>
                <a:latin typeface="Arial" panose="020B0604020202020204" pitchFamily="34" charset="0"/>
                <a:cs typeface="Arial" panose="020B0604020202020204" pitchFamily="34" charset="0"/>
              </a:rPr>
            </a:br>
            <a:r>
              <a:rPr lang="es-ES" sz="1400" b="0" i="0" dirty="0">
                <a:solidFill>
                  <a:srgbClr val="515151"/>
                </a:solidFill>
                <a:effectLst/>
                <a:latin typeface="Arial" panose="020B0604020202020204" pitchFamily="34" charset="0"/>
                <a:cs typeface="Arial" panose="020B0604020202020204" pitchFamily="34" charset="0"/>
              </a:rPr>
              <a:t>C .Salvo que el Gobierno lo decida</a:t>
            </a:r>
            <a:br>
              <a:rPr lang="es-ES" sz="1400" b="0" i="0" dirty="0">
                <a:solidFill>
                  <a:srgbClr val="515151"/>
                </a:solidFill>
                <a:effectLst/>
                <a:latin typeface="Arial" panose="020B0604020202020204" pitchFamily="34" charset="0"/>
                <a:cs typeface="Arial" panose="020B0604020202020204" pitchFamily="34" charset="0"/>
              </a:rPr>
            </a:br>
            <a:r>
              <a:rPr lang="es-ES" sz="1400" b="0" i="0" dirty="0">
                <a:solidFill>
                  <a:srgbClr val="515151"/>
                </a:solidFill>
                <a:effectLst/>
                <a:latin typeface="Arial" panose="020B0604020202020204" pitchFamily="34" charset="0"/>
                <a:cs typeface="Arial" panose="020B0604020202020204" pitchFamily="34" charset="0"/>
              </a:rPr>
              <a:t>D. Salvo que los empresarios  lo decidan</a:t>
            </a:r>
            <a:br>
              <a:rPr lang="es-ES" sz="1400" b="0" i="0" dirty="0">
                <a:solidFill>
                  <a:srgbClr val="515151"/>
                </a:solidFill>
                <a:effectLst/>
                <a:latin typeface="Arial" panose="020B0604020202020204" pitchFamily="34" charset="0"/>
                <a:cs typeface="Arial" panose="020B0604020202020204" pitchFamily="34" charset="0"/>
              </a:rPr>
            </a:br>
            <a:endParaRPr lang="es-ES" sz="1400" dirty="0"/>
          </a:p>
        </p:txBody>
      </p:sp>
    </p:spTree>
    <p:extLst>
      <p:ext uri="{BB962C8B-B14F-4D97-AF65-F5344CB8AC3E}">
        <p14:creationId xmlns:p14="http://schemas.microsoft.com/office/powerpoint/2010/main" val="31440838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892C31BB-535A-4784-958B-AE16BC49EE3A}"/>
              </a:ext>
            </a:extLst>
          </p:cNvPr>
          <p:cNvSpPr>
            <a:spLocks noGrp="1"/>
          </p:cNvSpPr>
          <p:nvPr>
            <p:ph idx="1"/>
          </p:nvPr>
        </p:nvSpPr>
        <p:spPr>
          <a:xfrm>
            <a:off x="587228" y="385893"/>
            <a:ext cx="10428643" cy="5855515"/>
          </a:xfrm>
        </p:spPr>
        <p:txBody>
          <a:bodyPr>
            <a:normAutofit fontScale="40000" lnSpcReduction="20000"/>
          </a:bodyPr>
          <a:lstStyle/>
          <a:p>
            <a:pPr marL="45720" indent="0" algn="l" fontAlgn="base">
              <a:buNone/>
            </a:pPr>
            <a:r>
              <a:rPr lang="es-ES" sz="3500" b="1" i="0" u="sng" dirty="0">
                <a:effectLst/>
                <a:latin typeface="Arial" panose="020B0604020202020204" pitchFamily="34" charset="0"/>
                <a:cs typeface="Arial" panose="020B0604020202020204" pitchFamily="34" charset="0"/>
              </a:rPr>
              <a:t>3. Actividad</a:t>
            </a:r>
          </a:p>
          <a:p>
            <a:pPr marL="45720" indent="0" algn="l" fontAlgn="base">
              <a:buNone/>
            </a:pPr>
            <a:br>
              <a:rPr lang="es-ES" b="0" i="0" dirty="0">
                <a:solidFill>
                  <a:srgbClr val="515151"/>
                </a:solidFill>
                <a:effectLst/>
                <a:latin typeface="Lora" pitchFamily="2" charset="0"/>
              </a:rPr>
            </a:br>
            <a:br>
              <a:rPr lang="es-ES" b="0" i="0" dirty="0">
                <a:solidFill>
                  <a:srgbClr val="515151"/>
                </a:solidFill>
                <a:effectLst/>
                <a:latin typeface="Lora" pitchFamily="2" charset="0"/>
              </a:rPr>
            </a:br>
            <a:r>
              <a:rPr lang="es-ES" sz="3000" b="1" i="0" dirty="0">
                <a:effectLst/>
                <a:latin typeface="Arial" panose="020B0604020202020204" pitchFamily="34" charset="0"/>
                <a:cs typeface="Arial" panose="020B0604020202020204" pitchFamily="34" charset="0"/>
              </a:rPr>
              <a:t>Clasifica en derechos básicos del trabajador, derechos específicos derivados de la relación laboral y obligaciones del trabajador:</a:t>
            </a:r>
            <a:br>
              <a:rPr lang="es-ES" b="0" i="0" dirty="0">
                <a:effectLst/>
                <a:latin typeface="Lora" pitchFamily="2" charset="0"/>
              </a:rPr>
            </a:br>
            <a:endParaRPr lang="es-ES" dirty="0">
              <a:latin typeface="Lora" pitchFamily="2" charset="0"/>
            </a:endParaRPr>
          </a:p>
          <a:p>
            <a:pPr marL="45720" indent="0" algn="l" fontAlgn="base">
              <a:buNone/>
            </a:pPr>
            <a:r>
              <a:rPr lang="es-ES" b="0" i="0" dirty="0">
                <a:effectLst/>
                <a:latin typeface="Lora" pitchFamily="2" charset="0"/>
              </a:rPr>
              <a:t>1</a:t>
            </a:r>
            <a:r>
              <a:rPr lang="es-ES" sz="2500" b="0" i="0" dirty="0">
                <a:effectLst/>
                <a:latin typeface="Arial" panose="020B0604020202020204" pitchFamily="34" charset="0"/>
                <a:cs typeface="Arial" panose="020B0604020202020204" pitchFamily="34" charset="0"/>
              </a:rPr>
              <a:t>. Libre sindicación.</a:t>
            </a:r>
          </a:p>
          <a:p>
            <a:pPr algn="l" fontAlgn="base">
              <a:buFont typeface="+mj-lt"/>
              <a:buAutoNum type="arabicPeriod"/>
            </a:pPr>
            <a:r>
              <a:rPr lang="es-ES" sz="2500" b="0" i="0" dirty="0">
                <a:effectLst/>
                <a:latin typeface="Arial" panose="020B0604020202020204" pitchFamily="34" charset="0"/>
                <a:cs typeface="Arial" panose="020B0604020202020204" pitchFamily="34" charset="0"/>
              </a:rPr>
              <a:t>Negociación colectiva.</a:t>
            </a:r>
          </a:p>
          <a:p>
            <a:pPr algn="l" fontAlgn="base">
              <a:buFont typeface="+mj-lt"/>
              <a:buAutoNum type="arabicPeriod"/>
            </a:pPr>
            <a:r>
              <a:rPr lang="es-ES" sz="2500" b="0" i="0" dirty="0">
                <a:effectLst/>
                <a:latin typeface="Arial" panose="020B0604020202020204" pitchFamily="34" charset="0"/>
                <a:cs typeface="Arial" panose="020B0604020202020204" pitchFamily="34" charset="0"/>
              </a:rPr>
              <a:t>Ocupación efectiva</a:t>
            </a:r>
          </a:p>
          <a:p>
            <a:pPr algn="l" fontAlgn="base">
              <a:buFont typeface="+mj-lt"/>
              <a:buAutoNum type="arabicPeriod"/>
            </a:pPr>
            <a:r>
              <a:rPr lang="es-ES" sz="2500" b="0" i="0" dirty="0">
                <a:effectLst/>
                <a:latin typeface="Arial" panose="020B0604020202020204" pitchFamily="34" charset="0"/>
                <a:cs typeface="Arial" panose="020B0604020202020204" pitchFamily="34" charset="0"/>
              </a:rPr>
              <a:t>Ejercicio individual de las acciones derivadas de su contrato de trabajo.</a:t>
            </a:r>
          </a:p>
          <a:p>
            <a:pPr algn="l" fontAlgn="base">
              <a:buFont typeface="+mj-lt"/>
              <a:buAutoNum type="arabicPeriod"/>
            </a:pPr>
            <a:r>
              <a:rPr lang="es-ES" sz="2500" b="0" i="0" dirty="0">
                <a:effectLst/>
                <a:latin typeface="Arial" panose="020B0604020202020204" pitchFamily="34" charset="0"/>
                <a:cs typeface="Arial" panose="020B0604020202020204" pitchFamily="34" charset="0"/>
              </a:rPr>
              <a:t>No ser discriminados directa o indirectamente para el empleo, o una vez empleados, por razones de sexo, estado civil, origen racial o étnico, condición social, religión o convicciones</a:t>
            </a:r>
          </a:p>
          <a:p>
            <a:pPr algn="l" fontAlgn="base">
              <a:buFont typeface="+mj-lt"/>
              <a:buAutoNum type="arabicPeriod"/>
            </a:pPr>
            <a:r>
              <a:rPr lang="es-ES" sz="2500" b="0" i="0" dirty="0">
                <a:effectLst/>
                <a:latin typeface="Arial" panose="020B0604020202020204" pitchFamily="34" charset="0"/>
                <a:cs typeface="Arial" panose="020B0604020202020204" pitchFamily="34" charset="0"/>
              </a:rPr>
              <a:t>Promoción y formación profesional en el trabajo,</a:t>
            </a:r>
          </a:p>
          <a:p>
            <a:pPr algn="l" fontAlgn="base">
              <a:buFont typeface="+mj-lt"/>
              <a:buAutoNum type="arabicPeriod"/>
            </a:pPr>
            <a:r>
              <a:rPr lang="es-ES" sz="2500" b="0" i="0" dirty="0">
                <a:effectLst/>
                <a:latin typeface="Arial" panose="020B0604020202020204" pitchFamily="34" charset="0"/>
                <a:cs typeface="Arial" panose="020B0604020202020204" pitchFamily="34" charset="0"/>
              </a:rPr>
              <a:t>Adopción de medidas de conflicto colectivo.</a:t>
            </a:r>
          </a:p>
          <a:p>
            <a:pPr algn="l" fontAlgn="base">
              <a:buFont typeface="+mj-lt"/>
              <a:buAutoNum type="arabicPeriod"/>
            </a:pPr>
            <a:r>
              <a:rPr lang="es-ES" sz="2500" b="0" i="0" dirty="0">
                <a:effectLst/>
                <a:latin typeface="Arial" panose="020B0604020202020204" pitchFamily="34" charset="0"/>
                <a:cs typeface="Arial" panose="020B0604020202020204" pitchFamily="34" charset="0"/>
              </a:rPr>
              <a:t>Huelga.</a:t>
            </a:r>
          </a:p>
          <a:p>
            <a:pPr algn="l" fontAlgn="base">
              <a:buFont typeface="+mj-lt"/>
              <a:buAutoNum type="arabicPeriod"/>
            </a:pPr>
            <a:r>
              <a:rPr lang="es-ES" sz="2500" b="0" i="0" dirty="0">
                <a:effectLst/>
                <a:latin typeface="Arial" panose="020B0604020202020204" pitchFamily="34" charset="0"/>
                <a:cs typeface="Arial" panose="020B0604020202020204" pitchFamily="34" charset="0"/>
              </a:rPr>
              <a:t>Información, consulta y participación en la empresa.</a:t>
            </a:r>
          </a:p>
          <a:p>
            <a:pPr algn="l" fontAlgn="base">
              <a:buFont typeface="+mj-lt"/>
              <a:buAutoNum type="arabicPeriod"/>
            </a:pPr>
            <a:r>
              <a:rPr lang="es-ES" sz="2500" b="0" i="0" dirty="0">
                <a:effectLst/>
                <a:latin typeface="Arial" panose="020B0604020202020204" pitchFamily="34" charset="0"/>
                <a:cs typeface="Arial" panose="020B0604020202020204" pitchFamily="34" charset="0"/>
              </a:rPr>
              <a:t>Respeto de su intimidad</a:t>
            </a:r>
          </a:p>
          <a:p>
            <a:pPr algn="l" fontAlgn="base">
              <a:buFont typeface="+mj-lt"/>
              <a:buAutoNum type="arabicPeriod"/>
            </a:pPr>
            <a:r>
              <a:rPr lang="es-ES" sz="2500" b="0" i="0" dirty="0">
                <a:effectLst/>
                <a:latin typeface="Arial" panose="020B0604020202020204" pitchFamily="34" charset="0"/>
                <a:cs typeface="Arial" panose="020B0604020202020204" pitchFamily="34" charset="0"/>
              </a:rPr>
              <a:t>Observar las medidas de seguridad e higiene que se adopten.</a:t>
            </a:r>
          </a:p>
          <a:p>
            <a:pPr algn="l" fontAlgn="base">
              <a:buFont typeface="+mj-lt"/>
              <a:buAutoNum type="arabicPeriod"/>
            </a:pPr>
            <a:r>
              <a:rPr lang="es-ES" sz="2500" b="0" i="0" dirty="0">
                <a:effectLst/>
                <a:latin typeface="Arial" panose="020B0604020202020204" pitchFamily="34" charset="0"/>
                <a:cs typeface="Arial" panose="020B0604020202020204" pitchFamily="34" charset="0"/>
              </a:rPr>
              <a:t>Reunión.</a:t>
            </a:r>
          </a:p>
          <a:p>
            <a:pPr algn="l" fontAlgn="base">
              <a:buFont typeface="+mj-lt"/>
              <a:buAutoNum type="arabicPeriod"/>
            </a:pPr>
            <a:r>
              <a:rPr lang="es-ES" sz="2500" b="0" i="0" dirty="0">
                <a:effectLst/>
                <a:latin typeface="Arial" panose="020B0604020202020204" pitchFamily="34" charset="0"/>
                <a:cs typeface="Arial" panose="020B0604020202020204" pitchFamily="34" charset="0"/>
              </a:rPr>
              <a:t>La percepción puntual de la remuneración pactada o legalmente establecida.</a:t>
            </a:r>
          </a:p>
          <a:p>
            <a:pPr algn="l" fontAlgn="base">
              <a:buFont typeface="+mj-lt"/>
              <a:buAutoNum type="arabicPeriod"/>
            </a:pPr>
            <a:r>
              <a:rPr lang="es-ES" sz="2500" b="0" i="0" dirty="0">
                <a:effectLst/>
                <a:latin typeface="Arial" panose="020B0604020202020204" pitchFamily="34" charset="0"/>
                <a:cs typeface="Arial" panose="020B0604020202020204" pitchFamily="34" charset="0"/>
              </a:rPr>
              <a:t>Trabajo y libre elección de profesión</a:t>
            </a:r>
          </a:p>
          <a:p>
            <a:pPr algn="l" fontAlgn="base">
              <a:buFont typeface="+mj-lt"/>
              <a:buAutoNum type="arabicPeriod"/>
            </a:pPr>
            <a:r>
              <a:rPr lang="es-ES" sz="2500" b="0" i="0" dirty="0">
                <a:effectLst/>
                <a:latin typeface="Arial" panose="020B0604020202020204" pitchFamily="34" charset="0"/>
                <a:cs typeface="Arial" panose="020B0604020202020204" pitchFamily="34" charset="0"/>
              </a:rPr>
              <a:t>Cumplir las órdenes e instrucciones del empresario en el ejercicio regular de sus facultades directivas.</a:t>
            </a:r>
          </a:p>
          <a:p>
            <a:pPr algn="l" fontAlgn="base">
              <a:buFont typeface="+mj-lt"/>
              <a:buAutoNum type="arabicPeriod"/>
            </a:pPr>
            <a:r>
              <a:rPr lang="es-ES" sz="2500" b="0" i="0" dirty="0">
                <a:effectLst/>
                <a:latin typeface="Arial" panose="020B0604020202020204" pitchFamily="34" charset="0"/>
                <a:cs typeface="Arial" panose="020B0604020202020204" pitchFamily="34" charset="0"/>
              </a:rPr>
              <a:t>No concurrir con la actividad de la empresa, en los términos fijados en esta Ley.</a:t>
            </a:r>
          </a:p>
          <a:p>
            <a:pPr algn="l" fontAlgn="base">
              <a:buFont typeface="+mj-lt"/>
              <a:buAutoNum type="arabicPeriod"/>
            </a:pPr>
            <a:r>
              <a:rPr lang="es-ES" sz="2500" b="0" i="0" dirty="0">
                <a:effectLst/>
                <a:latin typeface="Arial" panose="020B0604020202020204" pitchFamily="34" charset="0"/>
                <a:cs typeface="Arial" panose="020B0604020202020204" pitchFamily="34" charset="0"/>
              </a:rPr>
              <a:t>Contribuir a la mejora de la productividad.</a:t>
            </a:r>
          </a:p>
          <a:p>
            <a:pPr marL="45720" indent="0">
              <a:buNone/>
            </a:pPr>
            <a:endParaRPr lang="es-ES" dirty="0"/>
          </a:p>
        </p:txBody>
      </p:sp>
    </p:spTree>
    <p:extLst>
      <p:ext uri="{BB962C8B-B14F-4D97-AF65-F5344CB8AC3E}">
        <p14:creationId xmlns:p14="http://schemas.microsoft.com/office/powerpoint/2010/main" val="9490949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F5597F5-0B62-420E-BF46-BEBA3E9D1535}"/>
              </a:ext>
            </a:extLst>
          </p:cNvPr>
          <p:cNvSpPr>
            <a:spLocks noGrp="1"/>
          </p:cNvSpPr>
          <p:nvPr>
            <p:ph type="title"/>
          </p:nvPr>
        </p:nvSpPr>
        <p:spPr>
          <a:xfrm>
            <a:off x="427839" y="609600"/>
            <a:ext cx="10590681" cy="380301"/>
          </a:xfrm>
        </p:spPr>
        <p:txBody>
          <a:bodyPr>
            <a:normAutofit/>
          </a:bodyPr>
          <a:lstStyle/>
          <a:p>
            <a:r>
              <a:rPr lang="es-ES" sz="1600" b="1" dirty="0"/>
              <a:t>SOLUCION:</a:t>
            </a:r>
          </a:p>
        </p:txBody>
      </p:sp>
      <p:sp>
        <p:nvSpPr>
          <p:cNvPr id="3" name="Marcador de contenido 2">
            <a:extLst>
              <a:ext uri="{FF2B5EF4-FFF2-40B4-BE49-F238E27FC236}">
                <a16:creationId xmlns:a16="http://schemas.microsoft.com/office/drawing/2014/main" id="{3826189A-3A6C-4C74-8A58-6048549D864A}"/>
              </a:ext>
            </a:extLst>
          </p:cNvPr>
          <p:cNvSpPr>
            <a:spLocks noGrp="1"/>
          </p:cNvSpPr>
          <p:nvPr>
            <p:ph idx="1"/>
          </p:nvPr>
        </p:nvSpPr>
        <p:spPr>
          <a:xfrm>
            <a:off x="1143000" y="1224793"/>
            <a:ext cx="9872871" cy="4871207"/>
          </a:xfrm>
        </p:spPr>
        <p:txBody>
          <a:bodyPr>
            <a:normAutofit fontScale="47500" lnSpcReduction="20000"/>
          </a:bodyPr>
          <a:lstStyle/>
          <a:p>
            <a:r>
              <a:rPr lang="es-ES" sz="2800" b="1" u="sng" dirty="0">
                <a:latin typeface="Arial" panose="020B0604020202020204" pitchFamily="34" charset="0"/>
                <a:cs typeface="Arial" panose="020B0604020202020204" pitchFamily="34" charset="0"/>
              </a:rPr>
              <a:t>ACTIVIDAD</a:t>
            </a:r>
            <a:br>
              <a:rPr lang="es-ES" sz="2400" b="1" i="0" dirty="0">
                <a:effectLst/>
                <a:latin typeface="Arial" panose="020B0604020202020204" pitchFamily="34" charset="0"/>
                <a:cs typeface="Arial" panose="020B0604020202020204" pitchFamily="34" charset="0"/>
              </a:rPr>
            </a:br>
            <a:br>
              <a:rPr lang="es-ES" sz="2400" b="1" i="0" dirty="0">
                <a:effectLst/>
                <a:latin typeface="Arial" panose="020B0604020202020204" pitchFamily="34" charset="0"/>
                <a:cs typeface="Arial" panose="020B0604020202020204" pitchFamily="34" charset="0"/>
              </a:rPr>
            </a:br>
            <a:r>
              <a:rPr lang="es-ES" sz="2400" b="1" i="0" dirty="0">
                <a:effectLst/>
                <a:latin typeface="Arial" panose="020B0604020202020204" pitchFamily="34" charset="0"/>
                <a:cs typeface="Arial" panose="020B0604020202020204" pitchFamily="34" charset="0"/>
              </a:rPr>
              <a:t>1. Indica si las supuestas relaciones siguientes estarán reguladas por el Estatuto de los trabajadores (es decir si constituyen relaciones laborales ordinarias)</a:t>
            </a:r>
            <a:br>
              <a:rPr lang="es-ES" sz="2400" b="1" i="0" dirty="0">
                <a:effectLst/>
                <a:latin typeface="Arial" panose="020B0604020202020204" pitchFamily="34" charset="0"/>
                <a:cs typeface="Arial" panose="020B0604020202020204" pitchFamily="34" charset="0"/>
              </a:rPr>
            </a:br>
            <a:br>
              <a:rPr lang="es-ES" sz="2400" dirty="0">
                <a:latin typeface="Arial" panose="020B0604020202020204" pitchFamily="34" charset="0"/>
                <a:cs typeface="Arial" panose="020B0604020202020204" pitchFamily="34" charset="0"/>
              </a:rPr>
            </a:br>
            <a:r>
              <a:rPr lang="es-ES" sz="2400" dirty="0">
                <a:latin typeface="Arial" panose="020B0604020202020204" pitchFamily="34" charset="0"/>
                <a:cs typeface="Arial" panose="020B0604020202020204" pitchFamily="34" charset="0"/>
              </a:rPr>
              <a:t>1. </a:t>
            </a:r>
            <a:r>
              <a:rPr lang="es-ES" sz="2400" b="0" i="0" dirty="0">
                <a:effectLst/>
                <a:latin typeface="Arial" panose="020B0604020202020204" pitchFamily="34" charset="0"/>
                <a:cs typeface="Arial" panose="020B0604020202020204" pitchFamily="34" charset="0"/>
              </a:rPr>
              <a:t>Rocío que ha estudiado un ciclo de grado medio de comercio va a ayudar a su amigo Pepe a organizar las estanterías de su tienda. </a:t>
            </a:r>
            <a:r>
              <a:rPr lang="es-ES" sz="2400" dirty="0">
                <a:solidFill>
                  <a:srgbClr val="FF0000"/>
                </a:solidFill>
                <a:latin typeface="Arial" panose="020B0604020202020204" pitchFamily="34" charset="0"/>
                <a:cs typeface="Arial" panose="020B0604020202020204" pitchFamily="34" charset="0"/>
              </a:rPr>
              <a:t>NO</a:t>
            </a:r>
            <a:br>
              <a:rPr lang="es-ES" sz="2400" b="0" i="0" dirty="0">
                <a:effectLst/>
                <a:latin typeface="Arial" panose="020B0604020202020204" pitchFamily="34" charset="0"/>
                <a:cs typeface="Arial" panose="020B0604020202020204" pitchFamily="34" charset="0"/>
              </a:rPr>
            </a:br>
            <a:r>
              <a:rPr lang="es-ES" sz="2400" b="0" i="0" dirty="0">
                <a:effectLst/>
                <a:latin typeface="Arial" panose="020B0604020202020204" pitchFamily="34" charset="0"/>
                <a:cs typeface="Arial" panose="020B0604020202020204" pitchFamily="34" charset="0"/>
              </a:rPr>
              <a:t>2. Javier que ha terminado auxiliar administrativo es contratado por su padre en la empresa. </a:t>
            </a:r>
            <a:r>
              <a:rPr lang="es-ES" sz="2400" b="0" i="0" dirty="0">
                <a:solidFill>
                  <a:srgbClr val="FF0000"/>
                </a:solidFill>
                <a:effectLst/>
                <a:latin typeface="Arial" panose="020B0604020202020204" pitchFamily="34" charset="0"/>
                <a:cs typeface="Arial" panose="020B0604020202020204" pitchFamily="34" charset="0"/>
              </a:rPr>
              <a:t>NO</a:t>
            </a:r>
            <a:br>
              <a:rPr lang="es-ES" sz="2400" b="0" i="0" dirty="0">
                <a:effectLst/>
                <a:latin typeface="Arial" panose="020B0604020202020204" pitchFamily="34" charset="0"/>
                <a:cs typeface="Arial" panose="020B0604020202020204" pitchFamily="34" charset="0"/>
              </a:rPr>
            </a:br>
            <a:r>
              <a:rPr lang="es-ES" sz="2400" b="0" i="0" dirty="0">
                <a:effectLst/>
                <a:latin typeface="Arial" panose="020B0604020202020204" pitchFamily="34" charset="0"/>
                <a:cs typeface="Arial" panose="020B0604020202020204" pitchFamily="34" charset="0"/>
              </a:rPr>
              <a:t>3. Carlos que estudia auxiliar de clínica va dos tardes por semana a realizar actividades con niños en los hospitales como voluntario de cruz </a:t>
            </a:r>
            <a:r>
              <a:rPr lang="es-ES" sz="2400" b="0" i="0" dirty="0" err="1">
                <a:effectLst/>
                <a:latin typeface="Arial" panose="020B0604020202020204" pitchFamily="34" charset="0"/>
                <a:cs typeface="Arial" panose="020B0604020202020204" pitchFamily="34" charset="0"/>
              </a:rPr>
              <a:t>roja</a:t>
            </a:r>
            <a:r>
              <a:rPr lang="es-ES" sz="2400" b="0" i="0" dirty="0" err="1">
                <a:solidFill>
                  <a:srgbClr val="FF0000"/>
                </a:solidFill>
                <a:effectLst/>
                <a:latin typeface="Arial" panose="020B0604020202020204" pitchFamily="34" charset="0"/>
                <a:cs typeface="Arial" panose="020B0604020202020204" pitchFamily="34" charset="0"/>
              </a:rPr>
              <a:t>.NO</a:t>
            </a:r>
            <a:br>
              <a:rPr lang="es-ES" sz="2400" b="0" i="0" dirty="0">
                <a:effectLst/>
                <a:latin typeface="Arial" panose="020B0604020202020204" pitchFamily="34" charset="0"/>
                <a:cs typeface="Arial" panose="020B0604020202020204" pitchFamily="34" charset="0"/>
              </a:rPr>
            </a:br>
            <a:r>
              <a:rPr lang="es-ES" sz="2400" b="0" i="0" dirty="0">
                <a:effectLst/>
                <a:latin typeface="Arial" panose="020B0604020202020204" pitchFamily="34" charset="0"/>
                <a:cs typeface="Arial" panose="020B0604020202020204" pitchFamily="34" charset="0"/>
              </a:rPr>
              <a:t>4. María que también estudia auxiliar de clínica trabaja todas las tardes en la residencia de ancianos de su tía con un contrato a tiempo parcial. </a:t>
            </a:r>
            <a:r>
              <a:rPr lang="es-ES" sz="2400" b="0" i="0" dirty="0">
                <a:solidFill>
                  <a:srgbClr val="FF0000"/>
                </a:solidFill>
                <a:effectLst/>
                <a:latin typeface="Arial" panose="020B0604020202020204" pitchFamily="34" charset="0"/>
                <a:cs typeface="Arial" panose="020B0604020202020204" pitchFamily="34" charset="0"/>
              </a:rPr>
              <a:t>SI</a:t>
            </a:r>
            <a:br>
              <a:rPr lang="es-ES" sz="2400" b="0" i="0" dirty="0">
                <a:effectLst/>
                <a:latin typeface="Arial" panose="020B0604020202020204" pitchFamily="34" charset="0"/>
                <a:cs typeface="Arial" panose="020B0604020202020204" pitchFamily="34" charset="0"/>
              </a:rPr>
            </a:br>
            <a:r>
              <a:rPr lang="es-ES" sz="2400" b="0" i="0" dirty="0">
                <a:effectLst/>
                <a:latin typeface="Arial" panose="020B0604020202020204" pitchFamily="34" charset="0"/>
                <a:cs typeface="Arial" panose="020B0604020202020204" pitchFamily="34" charset="0"/>
              </a:rPr>
              <a:t>5. Eduardo es un transportista profesional propietario de su propio </a:t>
            </a:r>
            <a:r>
              <a:rPr lang="es-ES" sz="2400" b="0" i="0" dirty="0" err="1">
                <a:effectLst/>
                <a:latin typeface="Arial" panose="020B0604020202020204" pitchFamily="34" charset="0"/>
                <a:cs typeface="Arial" panose="020B0604020202020204" pitchFamily="34" charset="0"/>
              </a:rPr>
              <a:t>vehículo.</a:t>
            </a:r>
            <a:r>
              <a:rPr lang="es-ES" sz="2400" b="0" i="0" dirty="0" err="1">
                <a:solidFill>
                  <a:srgbClr val="FF0000"/>
                </a:solidFill>
                <a:effectLst/>
                <a:latin typeface="Arial" panose="020B0604020202020204" pitchFamily="34" charset="0"/>
                <a:cs typeface="Arial" panose="020B0604020202020204" pitchFamily="34" charset="0"/>
              </a:rPr>
              <a:t>NO</a:t>
            </a:r>
            <a:br>
              <a:rPr lang="es-ES" sz="2400" b="0" i="0" dirty="0">
                <a:effectLst/>
                <a:latin typeface="Arial" panose="020B0604020202020204" pitchFamily="34" charset="0"/>
                <a:cs typeface="Arial" panose="020B0604020202020204" pitchFamily="34" charset="0"/>
              </a:rPr>
            </a:br>
            <a:r>
              <a:rPr lang="es-ES" sz="2400" b="0" i="0" dirty="0">
                <a:effectLst/>
                <a:latin typeface="Arial" panose="020B0604020202020204" pitchFamily="34" charset="0"/>
                <a:cs typeface="Arial" panose="020B0604020202020204" pitchFamily="34" charset="0"/>
              </a:rPr>
              <a:t>6. Juan es policía nacional. </a:t>
            </a:r>
            <a:r>
              <a:rPr lang="es-ES" sz="2400" b="0" i="0" dirty="0">
                <a:solidFill>
                  <a:srgbClr val="FF0000"/>
                </a:solidFill>
                <a:effectLst/>
                <a:latin typeface="Arial" panose="020B0604020202020204" pitchFamily="34" charset="0"/>
                <a:cs typeface="Arial" panose="020B0604020202020204" pitchFamily="34" charset="0"/>
              </a:rPr>
              <a:t>NO</a:t>
            </a:r>
            <a:br>
              <a:rPr lang="es-ES" sz="2400" b="0" i="0" dirty="0">
                <a:effectLst/>
                <a:latin typeface="Arial" panose="020B0604020202020204" pitchFamily="34" charset="0"/>
                <a:cs typeface="Arial" panose="020B0604020202020204" pitchFamily="34" charset="0"/>
              </a:rPr>
            </a:br>
            <a:r>
              <a:rPr lang="es-ES" sz="2400" b="0" i="0" dirty="0">
                <a:effectLst/>
                <a:latin typeface="Arial" panose="020B0604020202020204" pitchFamily="34" charset="0"/>
                <a:cs typeface="Arial" panose="020B0604020202020204" pitchFamily="34" charset="0"/>
              </a:rPr>
              <a:t>7. Lorena, estudiante de comercio quiere trabajar por las tardes y consigue un puesto de camarera al ser seleccionada por </a:t>
            </a:r>
            <a:r>
              <a:rPr lang="es-ES" sz="2400" b="0" i="0" dirty="0" err="1">
                <a:effectLst/>
                <a:latin typeface="Arial" panose="020B0604020202020204" pitchFamily="34" charset="0"/>
                <a:cs typeface="Arial" panose="020B0604020202020204" pitchFamily="34" charset="0"/>
              </a:rPr>
              <a:t>McDonald’s</a:t>
            </a:r>
            <a:r>
              <a:rPr lang="es-ES" sz="2400" b="0" i="0" dirty="0" err="1">
                <a:solidFill>
                  <a:srgbClr val="FF0000"/>
                </a:solidFill>
                <a:effectLst/>
                <a:latin typeface="Arial" panose="020B0604020202020204" pitchFamily="34" charset="0"/>
                <a:cs typeface="Arial" panose="020B0604020202020204" pitchFamily="34" charset="0"/>
              </a:rPr>
              <a:t>.SI</a:t>
            </a:r>
            <a:br>
              <a:rPr lang="es-ES" sz="2400" b="0" i="0" dirty="0">
                <a:effectLst/>
                <a:latin typeface="Arial" panose="020B0604020202020204" pitchFamily="34" charset="0"/>
                <a:cs typeface="Arial" panose="020B0604020202020204" pitchFamily="34" charset="0"/>
              </a:rPr>
            </a:br>
            <a:r>
              <a:rPr lang="es-ES" sz="2400" b="0" i="0" dirty="0">
                <a:effectLst/>
                <a:latin typeface="Arial" panose="020B0604020202020204" pitchFamily="34" charset="0"/>
                <a:cs typeface="Arial" panose="020B0604020202020204" pitchFamily="34" charset="0"/>
              </a:rPr>
              <a:t>8. Nacho es jugador de golf </a:t>
            </a:r>
            <a:r>
              <a:rPr lang="es-ES" sz="2400" b="0" i="0" dirty="0" err="1">
                <a:effectLst/>
                <a:latin typeface="Arial" panose="020B0604020202020204" pitchFamily="34" charset="0"/>
                <a:cs typeface="Arial" panose="020B0604020202020204" pitchFamily="34" charset="0"/>
              </a:rPr>
              <a:t>profesional.</a:t>
            </a:r>
            <a:r>
              <a:rPr lang="es-ES" sz="2400" b="0" i="0" dirty="0" err="1">
                <a:solidFill>
                  <a:srgbClr val="FF0000"/>
                </a:solidFill>
                <a:effectLst/>
                <a:latin typeface="Arial" panose="020B0604020202020204" pitchFamily="34" charset="0"/>
                <a:cs typeface="Arial" panose="020B0604020202020204" pitchFamily="34" charset="0"/>
              </a:rPr>
              <a:t>NO</a:t>
            </a:r>
            <a:br>
              <a:rPr lang="es-ES" sz="2400" b="0" i="0" dirty="0">
                <a:solidFill>
                  <a:srgbClr val="FF0000"/>
                </a:solidFill>
                <a:effectLst/>
                <a:latin typeface="Arial" panose="020B0604020202020204" pitchFamily="34" charset="0"/>
                <a:cs typeface="Arial" panose="020B0604020202020204" pitchFamily="34" charset="0"/>
              </a:rPr>
            </a:br>
            <a:br>
              <a:rPr lang="es-ES" sz="2800" b="1" u="sng" dirty="0">
                <a:solidFill>
                  <a:srgbClr val="515151"/>
                </a:solidFill>
                <a:latin typeface="Arial" panose="020B0604020202020204" pitchFamily="34" charset="0"/>
                <a:cs typeface="Arial" panose="020B0604020202020204" pitchFamily="34" charset="0"/>
              </a:rPr>
            </a:br>
            <a:r>
              <a:rPr lang="es-ES" sz="2800" b="1" u="sng" dirty="0">
                <a:solidFill>
                  <a:srgbClr val="515151"/>
                </a:solidFill>
                <a:latin typeface="Arial" panose="020B0604020202020204" pitchFamily="34" charset="0"/>
                <a:cs typeface="Arial" panose="020B0604020202020204" pitchFamily="34" charset="0"/>
              </a:rPr>
              <a:t>2. </a:t>
            </a:r>
            <a:r>
              <a:rPr lang="es-ES" sz="2800" b="1" i="0" u="sng" dirty="0">
                <a:solidFill>
                  <a:srgbClr val="515151"/>
                </a:solidFill>
                <a:effectLst/>
                <a:latin typeface="Arial" panose="020B0604020202020204" pitchFamily="34" charset="0"/>
                <a:cs typeface="Arial" panose="020B0604020202020204" pitchFamily="34" charset="0"/>
              </a:rPr>
              <a:t>ACTIVIDAD</a:t>
            </a:r>
            <a:br>
              <a:rPr lang="es-ES" sz="2400" b="0" i="0" dirty="0">
                <a:solidFill>
                  <a:srgbClr val="515151"/>
                </a:solidFill>
                <a:effectLst/>
                <a:latin typeface="Arial" panose="020B0604020202020204" pitchFamily="34" charset="0"/>
                <a:cs typeface="Arial" panose="020B0604020202020204" pitchFamily="34" charset="0"/>
              </a:rPr>
            </a:br>
            <a:br>
              <a:rPr lang="es-ES" sz="2400" b="1" i="0" dirty="0">
                <a:solidFill>
                  <a:srgbClr val="515151"/>
                </a:solidFill>
                <a:effectLst/>
                <a:latin typeface="Arial" panose="020B0604020202020204" pitchFamily="34" charset="0"/>
                <a:cs typeface="Arial" panose="020B0604020202020204" pitchFamily="34" charset="0"/>
              </a:rPr>
            </a:br>
            <a:br>
              <a:rPr lang="es-ES" sz="2400" b="0" i="0" dirty="0">
                <a:solidFill>
                  <a:srgbClr val="515151"/>
                </a:solidFill>
                <a:effectLst/>
                <a:latin typeface="Arial" panose="020B0604020202020204" pitchFamily="34" charset="0"/>
                <a:cs typeface="Arial" panose="020B0604020202020204" pitchFamily="34" charset="0"/>
              </a:rPr>
            </a:br>
            <a:r>
              <a:rPr lang="es-ES" sz="2400" b="1" i="0" dirty="0">
                <a:solidFill>
                  <a:srgbClr val="515151"/>
                </a:solidFill>
                <a:effectLst/>
                <a:latin typeface="Arial" panose="020B0604020202020204" pitchFamily="34" charset="0"/>
                <a:cs typeface="Arial" panose="020B0604020202020204" pitchFamily="34" charset="0"/>
              </a:rPr>
              <a:t>1.- EL TRABAJO REGULADO POR EL DERECHO LABORAL ES:</a:t>
            </a:r>
            <a:br>
              <a:rPr lang="es-ES" sz="2400" b="0" i="0" dirty="0">
                <a:solidFill>
                  <a:srgbClr val="515151"/>
                </a:solidFill>
                <a:effectLst/>
                <a:latin typeface="Arial" panose="020B0604020202020204" pitchFamily="34" charset="0"/>
                <a:cs typeface="Arial" panose="020B0604020202020204" pitchFamily="34" charset="0"/>
              </a:rPr>
            </a:br>
            <a:r>
              <a:rPr lang="es-ES" sz="2400" b="0" i="0" dirty="0">
                <a:solidFill>
                  <a:srgbClr val="515151"/>
                </a:solidFill>
                <a:effectLst/>
                <a:latin typeface="Arial" panose="020B0604020202020204" pitchFamily="34" charset="0"/>
                <a:cs typeface="Arial" panose="020B0604020202020204" pitchFamily="34" charset="0"/>
              </a:rPr>
              <a:t>A. Personal</a:t>
            </a:r>
            <a:br>
              <a:rPr lang="es-ES" sz="2400" b="0" i="0" dirty="0">
                <a:solidFill>
                  <a:srgbClr val="515151"/>
                </a:solidFill>
                <a:effectLst/>
                <a:latin typeface="Arial" panose="020B0604020202020204" pitchFamily="34" charset="0"/>
                <a:cs typeface="Arial" panose="020B0604020202020204" pitchFamily="34" charset="0"/>
              </a:rPr>
            </a:br>
            <a:r>
              <a:rPr lang="es-ES" sz="2400" b="0" i="0" dirty="0">
                <a:solidFill>
                  <a:srgbClr val="515151"/>
                </a:solidFill>
                <a:effectLst/>
                <a:latin typeface="Arial" panose="020B0604020202020204" pitchFamily="34" charset="0"/>
                <a:cs typeface="Arial" panose="020B0604020202020204" pitchFamily="34" charset="0"/>
              </a:rPr>
              <a:t>B. Voluntario</a:t>
            </a:r>
            <a:br>
              <a:rPr lang="es-ES" sz="2400" b="0" i="0" dirty="0">
                <a:solidFill>
                  <a:srgbClr val="515151"/>
                </a:solidFill>
                <a:effectLst/>
                <a:latin typeface="Arial" panose="020B0604020202020204" pitchFamily="34" charset="0"/>
                <a:cs typeface="Arial" panose="020B0604020202020204" pitchFamily="34" charset="0"/>
              </a:rPr>
            </a:br>
            <a:r>
              <a:rPr lang="es-ES" sz="2400" b="0" i="0" dirty="0">
                <a:solidFill>
                  <a:srgbClr val="515151"/>
                </a:solidFill>
                <a:effectLst/>
                <a:latin typeface="Arial" panose="020B0604020202020204" pitchFamily="34" charset="0"/>
                <a:cs typeface="Arial" panose="020B0604020202020204" pitchFamily="34" charset="0"/>
              </a:rPr>
              <a:t>C. Por cuenta propia</a:t>
            </a:r>
            <a:br>
              <a:rPr lang="es-ES" sz="2400" b="0" i="0" dirty="0">
                <a:solidFill>
                  <a:srgbClr val="515151"/>
                </a:solidFill>
                <a:effectLst/>
                <a:latin typeface="Arial" panose="020B0604020202020204" pitchFamily="34" charset="0"/>
                <a:cs typeface="Arial" panose="020B0604020202020204" pitchFamily="34" charset="0"/>
              </a:rPr>
            </a:br>
            <a:r>
              <a:rPr lang="es-ES" sz="2400" b="0" i="0" dirty="0">
                <a:solidFill>
                  <a:srgbClr val="FF0000"/>
                </a:solidFill>
                <a:effectLst/>
                <a:latin typeface="Arial" panose="020B0604020202020204" pitchFamily="34" charset="0"/>
                <a:cs typeface="Arial" panose="020B0604020202020204" pitchFamily="34" charset="0"/>
              </a:rPr>
              <a:t>D. a) y b) </a:t>
            </a:r>
            <a:r>
              <a:rPr lang="es-ES" sz="2400" b="0" i="0" dirty="0">
                <a:solidFill>
                  <a:srgbClr val="515151"/>
                </a:solidFill>
                <a:effectLst/>
                <a:latin typeface="Arial" panose="020B0604020202020204" pitchFamily="34" charset="0"/>
                <a:cs typeface="Arial" panose="020B0604020202020204" pitchFamily="34" charset="0"/>
              </a:rPr>
              <a:t>son correctas</a:t>
            </a:r>
            <a:br>
              <a:rPr lang="es-ES" sz="2400" b="0" i="0" dirty="0">
                <a:solidFill>
                  <a:srgbClr val="515151"/>
                </a:solidFill>
                <a:effectLst/>
                <a:latin typeface="Arial" panose="020B0604020202020204" pitchFamily="34" charset="0"/>
                <a:cs typeface="Arial" panose="020B0604020202020204" pitchFamily="34" charset="0"/>
              </a:rPr>
            </a:br>
            <a:br>
              <a:rPr lang="es-ES" sz="2400" b="0" i="0" dirty="0">
                <a:solidFill>
                  <a:srgbClr val="515151"/>
                </a:solidFill>
                <a:effectLst/>
                <a:latin typeface="Arial" panose="020B0604020202020204" pitchFamily="34" charset="0"/>
                <a:cs typeface="Arial" panose="020B0604020202020204" pitchFamily="34" charset="0"/>
              </a:rPr>
            </a:br>
            <a:r>
              <a:rPr lang="es-ES" sz="2400" b="1" i="0" dirty="0">
                <a:solidFill>
                  <a:srgbClr val="515151"/>
                </a:solidFill>
                <a:effectLst/>
                <a:latin typeface="Arial" panose="020B0604020202020204" pitchFamily="34" charset="0"/>
                <a:cs typeface="Arial" panose="020B0604020202020204" pitchFamily="34" charset="0"/>
              </a:rPr>
              <a:t>2.-SEÑALA CUAL DE LAS SIGUIENTES CARACTERÍSTICAS NO ES PROPIA DEL TRABAJO REGULADO POR EL DERECHO LABORAL:</a:t>
            </a:r>
            <a:br>
              <a:rPr lang="es-ES" sz="2400" b="0" i="0" dirty="0">
                <a:solidFill>
                  <a:srgbClr val="515151"/>
                </a:solidFill>
                <a:effectLst/>
                <a:latin typeface="Arial" panose="020B0604020202020204" pitchFamily="34" charset="0"/>
                <a:cs typeface="Arial" panose="020B0604020202020204" pitchFamily="34" charset="0"/>
              </a:rPr>
            </a:br>
            <a:r>
              <a:rPr lang="es-ES" sz="2400" b="0" i="0" dirty="0">
                <a:solidFill>
                  <a:srgbClr val="515151"/>
                </a:solidFill>
                <a:effectLst/>
                <a:latin typeface="Arial" panose="020B0604020202020204" pitchFamily="34" charset="0"/>
                <a:cs typeface="Arial" panose="020B0604020202020204" pitchFamily="34" charset="0"/>
              </a:rPr>
              <a:t>A. Por cuenta ajena</a:t>
            </a:r>
            <a:br>
              <a:rPr lang="es-ES" sz="2400" b="0" i="0" dirty="0">
                <a:solidFill>
                  <a:srgbClr val="515151"/>
                </a:solidFill>
                <a:effectLst/>
                <a:latin typeface="Arial" panose="020B0604020202020204" pitchFamily="34" charset="0"/>
                <a:cs typeface="Arial" panose="020B0604020202020204" pitchFamily="34" charset="0"/>
              </a:rPr>
            </a:br>
            <a:r>
              <a:rPr lang="es-ES" sz="2400" b="0" i="0" dirty="0">
                <a:solidFill>
                  <a:srgbClr val="515151"/>
                </a:solidFill>
                <a:effectLst/>
                <a:latin typeface="Arial" panose="020B0604020202020204" pitchFamily="34" charset="0"/>
                <a:cs typeface="Arial" panose="020B0604020202020204" pitchFamily="34" charset="0"/>
              </a:rPr>
              <a:t>B. Remunerado</a:t>
            </a:r>
            <a:br>
              <a:rPr lang="es-ES" sz="2400" b="0" i="0" dirty="0">
                <a:solidFill>
                  <a:srgbClr val="515151"/>
                </a:solidFill>
                <a:effectLst/>
                <a:latin typeface="Arial" panose="020B0604020202020204" pitchFamily="34" charset="0"/>
                <a:cs typeface="Arial" panose="020B0604020202020204" pitchFamily="34" charset="0"/>
              </a:rPr>
            </a:br>
            <a:r>
              <a:rPr lang="es-ES" sz="2400" b="0" i="0" dirty="0">
                <a:solidFill>
                  <a:srgbClr val="515151"/>
                </a:solidFill>
                <a:effectLst/>
                <a:latin typeface="Arial" panose="020B0604020202020204" pitchFamily="34" charset="0"/>
                <a:cs typeface="Arial" panose="020B0604020202020204" pitchFamily="34" charset="0"/>
              </a:rPr>
              <a:t>C. Voluntario</a:t>
            </a:r>
            <a:br>
              <a:rPr lang="es-ES" sz="2400" b="0" i="0" dirty="0">
                <a:solidFill>
                  <a:srgbClr val="515151"/>
                </a:solidFill>
                <a:effectLst/>
                <a:latin typeface="Arial" panose="020B0604020202020204" pitchFamily="34" charset="0"/>
                <a:cs typeface="Arial" panose="020B0604020202020204" pitchFamily="34" charset="0"/>
              </a:rPr>
            </a:br>
            <a:r>
              <a:rPr lang="es-ES" sz="2400" b="0" i="0" dirty="0">
                <a:solidFill>
                  <a:srgbClr val="FF0000"/>
                </a:solidFill>
                <a:effectLst/>
                <a:latin typeface="Arial" panose="020B0604020202020204" pitchFamily="34" charset="0"/>
                <a:cs typeface="Arial" panose="020B0604020202020204" pitchFamily="34" charset="0"/>
              </a:rPr>
              <a:t>D. Por cuenta propia.</a:t>
            </a:r>
            <a:br>
              <a:rPr lang="es-ES" sz="2400" b="0" i="0" dirty="0">
                <a:solidFill>
                  <a:srgbClr val="FF0000"/>
                </a:solidFill>
                <a:effectLst/>
                <a:latin typeface="Arial" panose="020B0604020202020204" pitchFamily="34" charset="0"/>
                <a:cs typeface="Arial" panose="020B0604020202020204" pitchFamily="34" charset="0"/>
              </a:rPr>
            </a:br>
            <a:br>
              <a:rPr lang="es-ES" sz="2400" b="0" i="0" dirty="0">
                <a:solidFill>
                  <a:srgbClr val="515151"/>
                </a:solidFill>
                <a:effectLst/>
                <a:latin typeface="Arial" panose="020B0604020202020204" pitchFamily="34" charset="0"/>
                <a:cs typeface="Arial" panose="020B0604020202020204" pitchFamily="34" charset="0"/>
              </a:rPr>
            </a:br>
            <a:r>
              <a:rPr lang="es-ES" sz="2400" b="1" i="0" dirty="0">
                <a:solidFill>
                  <a:srgbClr val="515151"/>
                </a:solidFill>
                <a:effectLst/>
                <a:latin typeface="Arial" panose="020B0604020202020204" pitchFamily="34" charset="0"/>
                <a:cs typeface="Arial" panose="020B0604020202020204" pitchFamily="34" charset="0"/>
              </a:rPr>
              <a:t>3.- LA CARACTERÍSTICA POR LA CUAL LOS RESULTADOS QUE OBTIENE EL TRABAJADOR SON PARA EL EMPRESARIO TRABAJO SE RELACIONA CON LA CARACTERÍSTICA </a:t>
            </a:r>
            <a:br>
              <a:rPr lang="es-ES" sz="2400" b="0" i="0" dirty="0">
                <a:solidFill>
                  <a:srgbClr val="515151"/>
                </a:solidFill>
                <a:effectLst/>
                <a:latin typeface="Arial" panose="020B0604020202020204" pitchFamily="34" charset="0"/>
                <a:cs typeface="Arial" panose="020B0604020202020204" pitchFamily="34" charset="0"/>
              </a:rPr>
            </a:br>
            <a:r>
              <a:rPr lang="es-ES" sz="2400" b="0" i="0" dirty="0" err="1">
                <a:solidFill>
                  <a:srgbClr val="515151"/>
                </a:solidFill>
                <a:effectLst/>
                <a:latin typeface="Arial" panose="020B0604020202020204" pitchFamily="34" charset="0"/>
                <a:cs typeface="Arial" panose="020B0604020202020204" pitchFamily="34" charset="0"/>
              </a:rPr>
              <a:t>A.Trabajo</a:t>
            </a:r>
            <a:r>
              <a:rPr lang="es-ES" sz="2400" b="0" i="0" dirty="0">
                <a:solidFill>
                  <a:srgbClr val="515151"/>
                </a:solidFill>
                <a:effectLst/>
                <a:latin typeface="Arial" panose="020B0604020202020204" pitchFamily="34" charset="0"/>
                <a:cs typeface="Arial" panose="020B0604020202020204" pitchFamily="34" charset="0"/>
              </a:rPr>
              <a:t> obligatorio</a:t>
            </a:r>
            <a:br>
              <a:rPr lang="es-ES" sz="2400" b="0" i="0" dirty="0">
                <a:solidFill>
                  <a:srgbClr val="515151"/>
                </a:solidFill>
                <a:effectLst/>
                <a:latin typeface="Arial" panose="020B0604020202020204" pitchFamily="34" charset="0"/>
                <a:cs typeface="Arial" panose="020B0604020202020204" pitchFamily="34" charset="0"/>
              </a:rPr>
            </a:br>
            <a:r>
              <a:rPr lang="es-ES" sz="2400" b="0" i="0" dirty="0" err="1">
                <a:solidFill>
                  <a:srgbClr val="515151"/>
                </a:solidFill>
                <a:effectLst/>
                <a:latin typeface="Arial" panose="020B0604020202020204" pitchFamily="34" charset="0"/>
                <a:cs typeface="Arial" panose="020B0604020202020204" pitchFamily="34" charset="0"/>
              </a:rPr>
              <a:t>B.Trabajo</a:t>
            </a:r>
            <a:r>
              <a:rPr lang="es-ES" sz="2400" b="0" i="0" dirty="0">
                <a:solidFill>
                  <a:srgbClr val="515151"/>
                </a:solidFill>
                <a:effectLst/>
                <a:latin typeface="Arial" panose="020B0604020202020204" pitchFamily="34" charset="0"/>
                <a:cs typeface="Arial" panose="020B0604020202020204" pitchFamily="34" charset="0"/>
              </a:rPr>
              <a:t> dependiente</a:t>
            </a:r>
            <a:br>
              <a:rPr lang="es-ES" sz="2400" b="0" i="0" dirty="0">
                <a:solidFill>
                  <a:srgbClr val="515151"/>
                </a:solidFill>
                <a:effectLst/>
                <a:latin typeface="Arial" panose="020B0604020202020204" pitchFamily="34" charset="0"/>
                <a:cs typeface="Arial" panose="020B0604020202020204" pitchFamily="34" charset="0"/>
              </a:rPr>
            </a:br>
            <a:r>
              <a:rPr lang="es-ES" sz="2400" b="0" i="0" dirty="0" err="1">
                <a:solidFill>
                  <a:srgbClr val="515151"/>
                </a:solidFill>
                <a:effectLst/>
                <a:latin typeface="Arial" panose="020B0604020202020204" pitchFamily="34" charset="0"/>
                <a:cs typeface="Arial" panose="020B0604020202020204" pitchFamily="34" charset="0"/>
              </a:rPr>
              <a:t>C.Trabajo</a:t>
            </a:r>
            <a:r>
              <a:rPr lang="es-ES" sz="2400" b="0" i="0" dirty="0">
                <a:solidFill>
                  <a:srgbClr val="515151"/>
                </a:solidFill>
                <a:effectLst/>
                <a:latin typeface="Arial" panose="020B0604020202020204" pitchFamily="34" charset="0"/>
                <a:cs typeface="Arial" panose="020B0604020202020204" pitchFamily="34" charset="0"/>
              </a:rPr>
              <a:t> retribuido</a:t>
            </a:r>
            <a:br>
              <a:rPr lang="es-ES" sz="2400" b="0" i="0" dirty="0">
                <a:solidFill>
                  <a:srgbClr val="515151"/>
                </a:solidFill>
                <a:effectLst/>
                <a:latin typeface="Arial" panose="020B0604020202020204" pitchFamily="34" charset="0"/>
                <a:cs typeface="Arial" panose="020B0604020202020204" pitchFamily="34" charset="0"/>
              </a:rPr>
            </a:br>
            <a:r>
              <a:rPr lang="es-ES" sz="2400" b="0" i="0" dirty="0" err="1">
                <a:solidFill>
                  <a:srgbClr val="FF0000"/>
                </a:solidFill>
                <a:effectLst/>
                <a:latin typeface="Arial" panose="020B0604020202020204" pitchFamily="34" charset="0"/>
                <a:cs typeface="Arial" panose="020B0604020202020204" pitchFamily="34" charset="0"/>
              </a:rPr>
              <a:t>D.Trabajo</a:t>
            </a:r>
            <a:r>
              <a:rPr lang="es-ES" sz="2400" b="0" i="0" dirty="0">
                <a:solidFill>
                  <a:srgbClr val="FF0000"/>
                </a:solidFill>
                <a:effectLst/>
                <a:latin typeface="Arial" panose="020B0604020202020204" pitchFamily="34" charset="0"/>
                <a:cs typeface="Arial" panose="020B0604020202020204" pitchFamily="34" charset="0"/>
              </a:rPr>
              <a:t> por cuenta ajena</a:t>
            </a:r>
            <a:br>
              <a:rPr lang="es-ES" sz="2400" b="0" i="0" dirty="0">
                <a:solidFill>
                  <a:srgbClr val="515151"/>
                </a:solidFill>
                <a:effectLst/>
                <a:latin typeface="Arial" panose="020B0604020202020204" pitchFamily="34" charset="0"/>
                <a:cs typeface="Arial" panose="020B0604020202020204" pitchFamily="34" charset="0"/>
              </a:rPr>
            </a:br>
            <a:br>
              <a:rPr lang="es-ES" sz="2400" b="0" i="0" dirty="0">
                <a:solidFill>
                  <a:srgbClr val="515151"/>
                </a:solidFill>
                <a:effectLst/>
                <a:latin typeface="Arial" panose="020B0604020202020204" pitchFamily="34" charset="0"/>
                <a:cs typeface="Arial" panose="020B0604020202020204" pitchFamily="34" charset="0"/>
              </a:rPr>
            </a:br>
            <a:endParaRPr lang="es-ES" dirty="0"/>
          </a:p>
        </p:txBody>
      </p:sp>
    </p:spTree>
    <p:extLst>
      <p:ext uri="{BB962C8B-B14F-4D97-AF65-F5344CB8AC3E}">
        <p14:creationId xmlns:p14="http://schemas.microsoft.com/office/powerpoint/2010/main" val="40613440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4F435C3A-D718-45A6-A7D1-A40445CF3B5D}"/>
              </a:ext>
            </a:extLst>
          </p:cNvPr>
          <p:cNvSpPr>
            <a:spLocks noGrp="1"/>
          </p:cNvSpPr>
          <p:nvPr>
            <p:ph idx="1"/>
          </p:nvPr>
        </p:nvSpPr>
        <p:spPr>
          <a:xfrm>
            <a:off x="1143000" y="679508"/>
            <a:ext cx="9872871" cy="5416492"/>
          </a:xfrm>
        </p:spPr>
        <p:txBody>
          <a:bodyPr>
            <a:normAutofit/>
          </a:bodyPr>
          <a:lstStyle/>
          <a:p>
            <a:pPr marL="228600" marR="0" lvl="0" indent="-182880" algn="l" defTabSz="914400" rtl="0" eaLnBrk="1" fontAlgn="auto" latinLnBrk="0" hangingPunct="1">
              <a:lnSpc>
                <a:spcPct val="90000"/>
              </a:lnSpc>
              <a:spcBef>
                <a:spcPts val="1400"/>
              </a:spcBef>
              <a:spcAft>
                <a:spcPts val="0"/>
              </a:spcAft>
              <a:buClr>
                <a:srgbClr val="000000"/>
              </a:buClr>
              <a:buSzPct val="80000"/>
              <a:buFont typeface="Corbel" pitchFamily="34" charset="0"/>
              <a:buChar char="•"/>
              <a:tabLst/>
              <a:defRPr/>
            </a:pPr>
            <a:r>
              <a:rPr kumimoji="0" lang="es-ES" sz="1400" b="1" i="0" u="none" strike="noStrike" kern="1200" cap="none" spc="0" normalizeH="0" baseline="0" noProof="0" dirty="0">
                <a:ln>
                  <a:noFill/>
                </a:ln>
                <a:solidFill>
                  <a:srgbClr val="515151"/>
                </a:solidFill>
                <a:effectLst/>
                <a:uLnTx/>
                <a:uFillTx/>
                <a:latin typeface="Arial" panose="020B0604020202020204" pitchFamily="34" charset="0"/>
                <a:ea typeface="+mn-ea"/>
                <a:cs typeface="Arial" panose="020B0604020202020204" pitchFamily="34" charset="0"/>
              </a:rPr>
              <a:t>4.- DESDE EL PUNTO DE VISTA DEL TRABAJADOR LA CARACTERÍSTICA POR LA CUAL ÉSTE TIENE QUE ACEPTAR LAS ÓRDENES Y DIRECCIÓN DEL TRABAJO SE DENOMINA</a:t>
            </a:r>
            <a:br>
              <a:rPr kumimoji="0" lang="es-ES" sz="1400" b="0" i="0" u="none" strike="noStrike" kern="1200" cap="none" spc="0" normalizeH="0" baseline="0" noProof="0" dirty="0">
                <a:ln>
                  <a:noFill/>
                </a:ln>
                <a:solidFill>
                  <a:srgbClr val="515151"/>
                </a:solidFill>
                <a:effectLst/>
                <a:uLnTx/>
                <a:uFillTx/>
                <a:latin typeface="Arial" panose="020B0604020202020204" pitchFamily="34" charset="0"/>
                <a:ea typeface="+mn-ea"/>
                <a:cs typeface="Arial" panose="020B0604020202020204" pitchFamily="34" charset="0"/>
              </a:rPr>
            </a:br>
            <a:r>
              <a:rPr kumimoji="0" lang="es-ES" sz="1400" b="0" i="0" u="none" strike="noStrike" kern="1200" cap="none" spc="0" normalizeH="0" baseline="0" noProof="0" dirty="0" err="1">
                <a:ln>
                  <a:noFill/>
                </a:ln>
                <a:solidFill>
                  <a:srgbClr val="515151"/>
                </a:solidFill>
                <a:effectLst/>
                <a:uLnTx/>
                <a:uFillTx/>
                <a:latin typeface="Arial" panose="020B0604020202020204" pitchFamily="34" charset="0"/>
                <a:ea typeface="+mn-ea"/>
                <a:cs typeface="Arial" panose="020B0604020202020204" pitchFamily="34" charset="0"/>
              </a:rPr>
              <a:t>A.Voluntariedad</a:t>
            </a:r>
            <a:br>
              <a:rPr kumimoji="0" lang="es-ES" sz="1400" b="0" i="0" u="none" strike="noStrike" kern="1200" cap="none" spc="0" normalizeH="0" baseline="0" noProof="0" dirty="0">
                <a:ln>
                  <a:noFill/>
                </a:ln>
                <a:solidFill>
                  <a:srgbClr val="515151"/>
                </a:solidFill>
                <a:effectLst/>
                <a:uLnTx/>
                <a:uFillTx/>
                <a:latin typeface="Arial" panose="020B0604020202020204" pitchFamily="34" charset="0"/>
                <a:ea typeface="+mn-ea"/>
                <a:cs typeface="Arial" panose="020B0604020202020204" pitchFamily="34" charset="0"/>
              </a:rPr>
            </a:br>
            <a:r>
              <a:rPr kumimoji="0" lang="es-ES" sz="1400" b="0" i="0" u="none" strike="noStrike" kern="1200" cap="none" spc="0" normalizeH="0" baseline="0" noProof="0" dirty="0" err="1">
                <a:ln>
                  <a:noFill/>
                </a:ln>
                <a:solidFill>
                  <a:srgbClr val="FF0000"/>
                </a:solidFill>
                <a:effectLst/>
                <a:uLnTx/>
                <a:uFillTx/>
                <a:latin typeface="Arial" panose="020B0604020202020204" pitchFamily="34" charset="0"/>
                <a:ea typeface="+mn-ea"/>
                <a:cs typeface="Arial" panose="020B0604020202020204" pitchFamily="34" charset="0"/>
              </a:rPr>
              <a:t>B.Dependencia</a:t>
            </a:r>
            <a:br>
              <a:rPr kumimoji="0" lang="es-ES" sz="1400" b="0" i="0" u="none" strike="noStrike" kern="1200" cap="none" spc="0" normalizeH="0" baseline="0" noProof="0" dirty="0">
                <a:ln>
                  <a:noFill/>
                </a:ln>
                <a:solidFill>
                  <a:srgbClr val="515151"/>
                </a:solidFill>
                <a:effectLst/>
                <a:uLnTx/>
                <a:uFillTx/>
                <a:latin typeface="Arial" panose="020B0604020202020204" pitchFamily="34" charset="0"/>
                <a:ea typeface="+mn-ea"/>
                <a:cs typeface="Arial" panose="020B0604020202020204" pitchFamily="34" charset="0"/>
              </a:rPr>
            </a:br>
            <a:r>
              <a:rPr kumimoji="0" lang="es-ES" sz="1400" b="0" i="0" u="none" strike="noStrike" kern="1200" cap="none" spc="0" normalizeH="0" baseline="0" noProof="0" dirty="0" err="1">
                <a:ln>
                  <a:noFill/>
                </a:ln>
                <a:solidFill>
                  <a:srgbClr val="515151"/>
                </a:solidFill>
                <a:effectLst/>
                <a:uLnTx/>
                <a:uFillTx/>
                <a:latin typeface="Arial" panose="020B0604020202020204" pitchFamily="34" charset="0"/>
                <a:ea typeface="+mn-ea"/>
                <a:cs typeface="Arial" panose="020B0604020202020204" pitchFamily="34" charset="0"/>
              </a:rPr>
              <a:t>C.Ajenidad</a:t>
            </a:r>
            <a:br>
              <a:rPr kumimoji="0" lang="es-ES" sz="1400" b="0" i="0" u="none" strike="noStrike" kern="1200" cap="none" spc="0" normalizeH="0" baseline="0" noProof="0" dirty="0">
                <a:ln>
                  <a:noFill/>
                </a:ln>
                <a:solidFill>
                  <a:srgbClr val="515151"/>
                </a:solidFill>
                <a:effectLst/>
                <a:uLnTx/>
                <a:uFillTx/>
                <a:latin typeface="Arial" panose="020B0604020202020204" pitchFamily="34" charset="0"/>
                <a:ea typeface="+mn-ea"/>
                <a:cs typeface="Arial" panose="020B0604020202020204" pitchFamily="34" charset="0"/>
              </a:rPr>
            </a:br>
            <a:r>
              <a:rPr kumimoji="0" lang="es-ES" sz="1400" b="0" i="0" u="none" strike="noStrike" kern="1200" cap="none" spc="0" normalizeH="0" baseline="0" noProof="0" dirty="0" err="1">
                <a:ln>
                  <a:noFill/>
                </a:ln>
                <a:solidFill>
                  <a:srgbClr val="515151"/>
                </a:solidFill>
                <a:effectLst/>
                <a:uLnTx/>
                <a:uFillTx/>
                <a:latin typeface="Arial" panose="020B0604020202020204" pitchFamily="34" charset="0"/>
                <a:ea typeface="+mn-ea"/>
                <a:cs typeface="Arial" panose="020B0604020202020204" pitchFamily="34" charset="0"/>
              </a:rPr>
              <a:t>D.Ninguna</a:t>
            </a:r>
            <a:r>
              <a:rPr kumimoji="0" lang="es-ES" sz="1400" b="0" i="0" u="none" strike="noStrike" kern="1200" cap="none" spc="0" normalizeH="0" baseline="0" noProof="0" dirty="0">
                <a:ln>
                  <a:noFill/>
                </a:ln>
                <a:solidFill>
                  <a:srgbClr val="515151"/>
                </a:solidFill>
                <a:effectLst/>
                <a:uLnTx/>
                <a:uFillTx/>
                <a:latin typeface="Arial" panose="020B0604020202020204" pitchFamily="34" charset="0"/>
                <a:ea typeface="+mn-ea"/>
                <a:cs typeface="Arial" panose="020B0604020202020204" pitchFamily="34" charset="0"/>
              </a:rPr>
              <a:t> de las anteriores es correcta.</a:t>
            </a:r>
            <a:br>
              <a:rPr kumimoji="0" lang="es-ES" sz="1400" b="0" i="0" u="none" strike="noStrike" kern="1200" cap="none" spc="0" normalizeH="0" baseline="0" noProof="0" dirty="0">
                <a:ln>
                  <a:noFill/>
                </a:ln>
                <a:solidFill>
                  <a:srgbClr val="515151"/>
                </a:solidFill>
                <a:effectLst/>
                <a:uLnTx/>
                <a:uFillTx/>
                <a:latin typeface="Arial" panose="020B0604020202020204" pitchFamily="34" charset="0"/>
                <a:ea typeface="+mn-ea"/>
                <a:cs typeface="Arial" panose="020B0604020202020204" pitchFamily="34" charset="0"/>
              </a:rPr>
            </a:br>
            <a:br>
              <a:rPr kumimoji="0" lang="es-ES" sz="1400" b="0" i="0" u="none" strike="noStrike" kern="1200" cap="none" spc="0" normalizeH="0" baseline="0" noProof="0" dirty="0">
                <a:ln>
                  <a:noFill/>
                </a:ln>
                <a:solidFill>
                  <a:srgbClr val="515151"/>
                </a:solidFill>
                <a:effectLst/>
                <a:uLnTx/>
                <a:uFillTx/>
                <a:latin typeface="Arial" panose="020B0604020202020204" pitchFamily="34" charset="0"/>
                <a:ea typeface="+mn-ea"/>
                <a:cs typeface="Arial" panose="020B0604020202020204" pitchFamily="34" charset="0"/>
              </a:rPr>
            </a:br>
            <a:r>
              <a:rPr kumimoji="0" lang="es-ES" sz="1400" b="1" i="0" u="none" strike="noStrike" kern="1200" cap="none" spc="0" normalizeH="0" baseline="0" noProof="0" dirty="0">
                <a:ln>
                  <a:noFill/>
                </a:ln>
                <a:solidFill>
                  <a:srgbClr val="515151"/>
                </a:solidFill>
                <a:effectLst/>
                <a:uLnTx/>
                <a:uFillTx/>
                <a:latin typeface="Arial" panose="020B0604020202020204" pitchFamily="34" charset="0"/>
                <a:ea typeface="+mn-ea"/>
                <a:cs typeface="Arial" panose="020B0604020202020204" pitchFamily="34" charset="0"/>
              </a:rPr>
              <a:t>5.- EL TRABAJO CONSTITUTIVO DE LAS RELACIONES LABORALES, ES UN TRABAJO VOLUNTARIO:</a:t>
            </a:r>
            <a:br>
              <a:rPr kumimoji="0" lang="es-ES" sz="1400" b="0" i="0" u="none" strike="noStrike" kern="1200" cap="none" spc="0" normalizeH="0" baseline="0" noProof="0" dirty="0">
                <a:ln>
                  <a:noFill/>
                </a:ln>
                <a:solidFill>
                  <a:srgbClr val="515151"/>
                </a:solidFill>
                <a:effectLst/>
                <a:uLnTx/>
                <a:uFillTx/>
                <a:latin typeface="Arial" panose="020B0604020202020204" pitchFamily="34" charset="0"/>
                <a:ea typeface="+mn-ea"/>
                <a:cs typeface="Arial" panose="020B0604020202020204" pitchFamily="34" charset="0"/>
              </a:rPr>
            </a:br>
            <a:r>
              <a:rPr kumimoji="0" lang="es-ES" sz="1400" b="0" i="0" u="none" strike="noStrike" kern="1200" cap="none" spc="0" normalizeH="0" baseline="0" noProof="0" dirty="0" err="1">
                <a:ln>
                  <a:noFill/>
                </a:ln>
                <a:solidFill>
                  <a:srgbClr val="515151"/>
                </a:solidFill>
                <a:effectLst/>
                <a:uLnTx/>
                <a:uFillTx/>
                <a:latin typeface="Arial" panose="020B0604020202020204" pitchFamily="34" charset="0"/>
                <a:ea typeface="+mn-ea"/>
                <a:cs typeface="Arial" panose="020B0604020202020204" pitchFamily="34" charset="0"/>
              </a:rPr>
              <a:t>A.Únicamente</a:t>
            </a:r>
            <a:r>
              <a:rPr kumimoji="0" lang="es-ES" sz="1400" b="0" i="0" u="none" strike="noStrike" kern="1200" cap="none" spc="0" normalizeH="0" baseline="0" noProof="0" dirty="0">
                <a:ln>
                  <a:noFill/>
                </a:ln>
                <a:solidFill>
                  <a:srgbClr val="515151"/>
                </a:solidFill>
                <a:effectLst/>
                <a:uLnTx/>
                <a:uFillTx/>
                <a:latin typeface="Arial" panose="020B0604020202020204" pitchFamily="34" charset="0"/>
                <a:ea typeface="+mn-ea"/>
                <a:cs typeface="Arial" panose="020B0604020202020204" pitchFamily="34" charset="0"/>
              </a:rPr>
              <a:t> si no se ha firmado el contrato de trabajo</a:t>
            </a:r>
            <a:br>
              <a:rPr kumimoji="0" lang="es-ES" sz="1400" b="0" i="0" u="none" strike="noStrike" kern="1200" cap="none" spc="0" normalizeH="0" baseline="0" noProof="0" dirty="0">
                <a:ln>
                  <a:noFill/>
                </a:ln>
                <a:solidFill>
                  <a:srgbClr val="515151"/>
                </a:solidFill>
                <a:effectLst/>
                <a:uLnTx/>
                <a:uFillTx/>
                <a:latin typeface="Arial" panose="020B0604020202020204" pitchFamily="34" charset="0"/>
                <a:ea typeface="+mn-ea"/>
                <a:cs typeface="Arial" panose="020B0604020202020204" pitchFamily="34" charset="0"/>
              </a:rPr>
            </a:br>
            <a:r>
              <a:rPr kumimoji="0" lang="es-ES" sz="1400" b="0" i="0" u="none" strike="noStrike" kern="1200" cap="none" spc="0" normalizeH="0" baseline="0" noProof="0" dirty="0" err="1">
                <a:ln>
                  <a:noFill/>
                </a:ln>
                <a:solidFill>
                  <a:srgbClr val="515151"/>
                </a:solidFill>
                <a:effectLst/>
                <a:uLnTx/>
                <a:uFillTx/>
                <a:latin typeface="Arial" panose="020B0604020202020204" pitchFamily="34" charset="0"/>
                <a:ea typeface="+mn-ea"/>
                <a:cs typeface="Arial" panose="020B0604020202020204" pitchFamily="34" charset="0"/>
              </a:rPr>
              <a:t>B.Nunca</a:t>
            </a:r>
            <a:br>
              <a:rPr kumimoji="0" lang="es-ES" sz="1400" b="0" i="0" u="none" strike="noStrike" kern="1200" cap="none" spc="0" normalizeH="0" baseline="0" noProof="0" dirty="0">
                <a:ln>
                  <a:noFill/>
                </a:ln>
                <a:solidFill>
                  <a:srgbClr val="515151"/>
                </a:solidFill>
                <a:effectLst/>
                <a:uLnTx/>
                <a:uFillTx/>
                <a:latin typeface="Arial" panose="020B0604020202020204" pitchFamily="34" charset="0"/>
                <a:ea typeface="+mn-ea"/>
                <a:cs typeface="Arial" panose="020B0604020202020204" pitchFamily="34" charset="0"/>
              </a:rPr>
            </a:br>
            <a:r>
              <a:rPr kumimoji="0" lang="es-ES" sz="1400" b="0" i="0" u="none" strike="noStrike" kern="1200" cap="none" spc="0" normalizeH="0" baseline="0" noProof="0" dirty="0" err="1">
                <a:ln>
                  <a:noFill/>
                </a:ln>
                <a:solidFill>
                  <a:srgbClr val="FF0000"/>
                </a:solidFill>
                <a:effectLst/>
                <a:uLnTx/>
                <a:uFillTx/>
                <a:latin typeface="Arial" panose="020B0604020202020204" pitchFamily="34" charset="0"/>
                <a:ea typeface="+mn-ea"/>
                <a:cs typeface="Arial" panose="020B0604020202020204" pitchFamily="34" charset="0"/>
              </a:rPr>
              <a:t>C.Siempre</a:t>
            </a:r>
            <a:br>
              <a:rPr kumimoji="0" lang="es-ES" sz="1400" b="0" i="0" u="none" strike="noStrike" kern="1200" cap="none" spc="0" normalizeH="0" baseline="0" noProof="0" dirty="0">
                <a:ln>
                  <a:noFill/>
                </a:ln>
                <a:solidFill>
                  <a:srgbClr val="515151"/>
                </a:solidFill>
                <a:effectLst/>
                <a:uLnTx/>
                <a:uFillTx/>
                <a:latin typeface="Arial" panose="020B0604020202020204" pitchFamily="34" charset="0"/>
                <a:ea typeface="+mn-ea"/>
                <a:cs typeface="Arial" panose="020B0604020202020204" pitchFamily="34" charset="0"/>
              </a:rPr>
            </a:br>
            <a:r>
              <a:rPr kumimoji="0" lang="es-ES" sz="1400" b="0" i="0" u="none" strike="noStrike" kern="1200" cap="none" spc="0" normalizeH="0" baseline="0" noProof="0" dirty="0" err="1">
                <a:ln>
                  <a:noFill/>
                </a:ln>
                <a:solidFill>
                  <a:srgbClr val="515151"/>
                </a:solidFill>
                <a:effectLst/>
                <a:uLnTx/>
                <a:uFillTx/>
                <a:latin typeface="Arial" panose="020B0604020202020204" pitchFamily="34" charset="0"/>
                <a:ea typeface="+mn-ea"/>
                <a:cs typeface="Arial" panose="020B0604020202020204" pitchFamily="34" charset="0"/>
              </a:rPr>
              <a:t>D.Depende</a:t>
            </a:r>
            <a:r>
              <a:rPr kumimoji="0" lang="es-ES" sz="1400" b="0" i="0" u="none" strike="noStrike" kern="1200" cap="none" spc="0" normalizeH="0" baseline="0" noProof="0" dirty="0">
                <a:ln>
                  <a:noFill/>
                </a:ln>
                <a:solidFill>
                  <a:srgbClr val="515151"/>
                </a:solidFill>
                <a:effectLst/>
                <a:uLnTx/>
                <a:uFillTx/>
                <a:latin typeface="Arial" panose="020B0604020202020204" pitchFamily="34" charset="0"/>
                <a:ea typeface="+mn-ea"/>
                <a:cs typeface="Arial" panose="020B0604020202020204" pitchFamily="34" charset="0"/>
              </a:rPr>
              <a:t> de cada caso en la relación laboral</a:t>
            </a:r>
            <a:br>
              <a:rPr kumimoji="0" lang="es-ES" sz="1400" b="0" i="0" u="none" strike="noStrike" kern="1200" cap="none" spc="0" normalizeH="0" baseline="0" noProof="0" dirty="0">
                <a:ln>
                  <a:noFill/>
                </a:ln>
                <a:solidFill>
                  <a:srgbClr val="515151"/>
                </a:solidFill>
                <a:effectLst/>
                <a:uLnTx/>
                <a:uFillTx/>
                <a:latin typeface="Arial" panose="020B0604020202020204" pitchFamily="34" charset="0"/>
                <a:ea typeface="+mn-ea"/>
                <a:cs typeface="Arial" panose="020B0604020202020204" pitchFamily="34" charset="0"/>
              </a:rPr>
            </a:br>
            <a:br>
              <a:rPr kumimoji="0" lang="es-ES" sz="1400" b="0" i="0" u="none" strike="noStrike" kern="1200" cap="none" spc="0" normalizeH="0" baseline="0" noProof="0" dirty="0">
                <a:ln>
                  <a:noFill/>
                </a:ln>
                <a:solidFill>
                  <a:srgbClr val="515151"/>
                </a:solidFill>
                <a:effectLst/>
                <a:uLnTx/>
                <a:uFillTx/>
                <a:latin typeface="Arial" panose="020B0604020202020204" pitchFamily="34" charset="0"/>
                <a:ea typeface="+mn-ea"/>
                <a:cs typeface="Arial" panose="020B0604020202020204" pitchFamily="34" charset="0"/>
              </a:rPr>
            </a:br>
            <a:br>
              <a:rPr kumimoji="0" lang="es-ES" sz="1400" b="0" i="0" u="none" strike="noStrike" kern="1200" cap="none" spc="0" normalizeH="0" baseline="0" noProof="0" dirty="0">
                <a:ln>
                  <a:noFill/>
                </a:ln>
                <a:solidFill>
                  <a:srgbClr val="515151"/>
                </a:solidFill>
                <a:effectLst/>
                <a:uLnTx/>
                <a:uFillTx/>
                <a:latin typeface="Arial" panose="020B0604020202020204" pitchFamily="34" charset="0"/>
                <a:ea typeface="+mn-ea"/>
                <a:cs typeface="Arial" panose="020B0604020202020204" pitchFamily="34" charset="0"/>
              </a:rPr>
            </a:br>
            <a:br>
              <a:rPr kumimoji="0" lang="es-ES" sz="1400" b="0" i="0" u="none" strike="noStrike" kern="1200" cap="none" spc="0" normalizeH="0" baseline="0" noProof="0" dirty="0">
                <a:ln>
                  <a:noFill/>
                </a:ln>
                <a:solidFill>
                  <a:srgbClr val="515151"/>
                </a:solidFill>
                <a:effectLst/>
                <a:uLnTx/>
                <a:uFillTx/>
                <a:latin typeface="Arial" panose="020B0604020202020204" pitchFamily="34" charset="0"/>
                <a:ea typeface="+mn-ea"/>
                <a:cs typeface="Arial" panose="020B0604020202020204" pitchFamily="34" charset="0"/>
              </a:rPr>
            </a:br>
            <a:r>
              <a:rPr lang="es-ES" sz="1400" b="1" dirty="0">
                <a:solidFill>
                  <a:srgbClr val="515151"/>
                </a:solidFill>
                <a:latin typeface="Arial" panose="020B0604020202020204" pitchFamily="34" charset="0"/>
                <a:cs typeface="Arial" panose="020B0604020202020204" pitchFamily="34" charset="0"/>
              </a:rPr>
              <a:t>6</a:t>
            </a:r>
            <a:r>
              <a:rPr kumimoji="0" lang="es-ES" sz="1400" b="1" i="0" u="none" strike="noStrike" kern="1200" cap="none" spc="0" normalizeH="0" baseline="0" noProof="0" dirty="0">
                <a:ln>
                  <a:noFill/>
                </a:ln>
                <a:solidFill>
                  <a:srgbClr val="515151"/>
                </a:solidFill>
                <a:effectLst/>
                <a:uLnTx/>
                <a:uFillTx/>
                <a:latin typeface="Arial" panose="020B0604020202020204" pitchFamily="34" charset="0"/>
                <a:ea typeface="+mn-ea"/>
                <a:cs typeface="Arial" panose="020B0604020202020204" pitchFamily="34" charset="0"/>
              </a:rPr>
              <a:t>.- UN CONVENIO COLECTIVO NO PUEDE ESTABLECER CONDICIONES PEORES QUE LAS ESTABLECIDAS EN LA LEY:</a:t>
            </a:r>
            <a:br>
              <a:rPr kumimoji="0" lang="es-ES" sz="1400" b="0" i="0" u="none" strike="noStrike" kern="1200" cap="none" spc="0" normalizeH="0" baseline="0" noProof="0" dirty="0">
                <a:ln>
                  <a:noFill/>
                </a:ln>
                <a:solidFill>
                  <a:srgbClr val="515151"/>
                </a:solidFill>
                <a:effectLst/>
                <a:uLnTx/>
                <a:uFillTx/>
                <a:latin typeface="Arial" panose="020B0604020202020204" pitchFamily="34" charset="0"/>
                <a:ea typeface="+mn-ea"/>
                <a:cs typeface="Arial" panose="020B0604020202020204" pitchFamily="34" charset="0"/>
              </a:rPr>
            </a:br>
            <a:r>
              <a:rPr kumimoji="0" lang="es-ES" sz="1400" b="0"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A. En ningún caso</a:t>
            </a:r>
            <a:br>
              <a:rPr kumimoji="0" lang="es-ES" sz="1400" b="0" i="0" u="none" strike="noStrike" kern="1200" cap="none" spc="0" normalizeH="0" baseline="0" noProof="0" dirty="0">
                <a:ln>
                  <a:noFill/>
                </a:ln>
                <a:solidFill>
                  <a:srgbClr val="515151"/>
                </a:solidFill>
                <a:effectLst/>
                <a:uLnTx/>
                <a:uFillTx/>
                <a:latin typeface="Arial" panose="020B0604020202020204" pitchFamily="34" charset="0"/>
                <a:ea typeface="+mn-ea"/>
                <a:cs typeface="Arial" panose="020B0604020202020204" pitchFamily="34" charset="0"/>
              </a:rPr>
            </a:br>
            <a:r>
              <a:rPr kumimoji="0" lang="es-ES" sz="1400" b="0" i="0" u="none" strike="noStrike" kern="1200" cap="none" spc="0" normalizeH="0" baseline="0" noProof="0" dirty="0">
                <a:ln>
                  <a:noFill/>
                </a:ln>
                <a:solidFill>
                  <a:srgbClr val="515151"/>
                </a:solidFill>
                <a:effectLst/>
                <a:uLnTx/>
                <a:uFillTx/>
                <a:latin typeface="Arial" panose="020B0604020202020204" pitchFamily="34" charset="0"/>
                <a:ea typeface="+mn-ea"/>
                <a:cs typeface="Arial" panose="020B0604020202020204" pitchFamily="34" charset="0"/>
              </a:rPr>
              <a:t>B. Salvo que lo decidan así los trabajadores a los que se le aplica</a:t>
            </a:r>
            <a:br>
              <a:rPr kumimoji="0" lang="es-ES" sz="1400" b="0" i="0" u="none" strike="noStrike" kern="1200" cap="none" spc="0" normalizeH="0" baseline="0" noProof="0" dirty="0">
                <a:ln>
                  <a:noFill/>
                </a:ln>
                <a:solidFill>
                  <a:srgbClr val="515151"/>
                </a:solidFill>
                <a:effectLst/>
                <a:uLnTx/>
                <a:uFillTx/>
                <a:latin typeface="Arial" panose="020B0604020202020204" pitchFamily="34" charset="0"/>
                <a:ea typeface="+mn-ea"/>
                <a:cs typeface="Arial" panose="020B0604020202020204" pitchFamily="34" charset="0"/>
              </a:rPr>
            </a:br>
            <a:r>
              <a:rPr kumimoji="0" lang="es-ES" sz="1400" b="0" i="0" u="none" strike="noStrike" kern="1200" cap="none" spc="0" normalizeH="0" baseline="0" noProof="0" dirty="0">
                <a:ln>
                  <a:noFill/>
                </a:ln>
                <a:solidFill>
                  <a:srgbClr val="515151"/>
                </a:solidFill>
                <a:effectLst/>
                <a:uLnTx/>
                <a:uFillTx/>
                <a:latin typeface="Arial" panose="020B0604020202020204" pitchFamily="34" charset="0"/>
                <a:ea typeface="+mn-ea"/>
                <a:cs typeface="Arial" panose="020B0604020202020204" pitchFamily="34" charset="0"/>
              </a:rPr>
              <a:t>C .Salvo que el Gobierno lo decida</a:t>
            </a:r>
            <a:br>
              <a:rPr kumimoji="0" lang="es-ES" sz="1400" b="0" i="0" u="none" strike="noStrike" kern="1200" cap="none" spc="0" normalizeH="0" baseline="0" noProof="0" dirty="0">
                <a:ln>
                  <a:noFill/>
                </a:ln>
                <a:solidFill>
                  <a:srgbClr val="515151"/>
                </a:solidFill>
                <a:effectLst/>
                <a:uLnTx/>
                <a:uFillTx/>
                <a:latin typeface="Arial" panose="020B0604020202020204" pitchFamily="34" charset="0"/>
                <a:ea typeface="+mn-ea"/>
                <a:cs typeface="Arial" panose="020B0604020202020204" pitchFamily="34" charset="0"/>
              </a:rPr>
            </a:br>
            <a:r>
              <a:rPr kumimoji="0" lang="es-ES" sz="1400" b="0" i="0" u="none" strike="noStrike" kern="1200" cap="none" spc="0" normalizeH="0" baseline="0" noProof="0" dirty="0">
                <a:ln>
                  <a:noFill/>
                </a:ln>
                <a:solidFill>
                  <a:srgbClr val="515151"/>
                </a:solidFill>
                <a:effectLst/>
                <a:uLnTx/>
                <a:uFillTx/>
                <a:latin typeface="Arial" panose="020B0604020202020204" pitchFamily="34" charset="0"/>
                <a:ea typeface="+mn-ea"/>
                <a:cs typeface="Arial" panose="020B0604020202020204" pitchFamily="34" charset="0"/>
              </a:rPr>
              <a:t>D. Salvo que los empresarios  lo decidan</a:t>
            </a:r>
            <a:br>
              <a:rPr kumimoji="0" lang="es-ES" sz="1400" b="0" i="0" u="none" strike="noStrike" kern="1200" cap="none" spc="0" normalizeH="0" baseline="0" noProof="0" dirty="0">
                <a:ln>
                  <a:noFill/>
                </a:ln>
                <a:solidFill>
                  <a:srgbClr val="515151"/>
                </a:solidFill>
                <a:effectLst/>
                <a:uLnTx/>
                <a:uFillTx/>
                <a:latin typeface="Arial" panose="020B0604020202020204" pitchFamily="34" charset="0"/>
                <a:ea typeface="+mn-ea"/>
                <a:cs typeface="Arial" panose="020B0604020202020204" pitchFamily="34" charset="0"/>
              </a:rPr>
            </a:br>
            <a:endParaRPr kumimoji="0" lang="es-ES" sz="1400" b="0" i="0" u="none" strike="noStrike" kern="1200" cap="none" spc="0" normalizeH="0" baseline="0" noProof="0" dirty="0">
              <a:ln>
                <a:noFill/>
              </a:ln>
              <a:solidFill>
                <a:srgbClr val="000000"/>
              </a:solidFill>
              <a:effectLst/>
              <a:uLnTx/>
              <a:uFillTx/>
              <a:latin typeface="Corbel" panose="020B0503020204020204"/>
              <a:ea typeface="+mn-ea"/>
              <a:cs typeface="+mn-cs"/>
            </a:endParaRPr>
          </a:p>
          <a:p>
            <a:endParaRPr lang="es-ES" dirty="0"/>
          </a:p>
        </p:txBody>
      </p:sp>
    </p:spTree>
    <p:extLst>
      <p:ext uri="{BB962C8B-B14F-4D97-AF65-F5344CB8AC3E}">
        <p14:creationId xmlns:p14="http://schemas.microsoft.com/office/powerpoint/2010/main" val="2671844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0F44CFE3-B4DB-4765-B298-29EAD9F98FEF}"/>
              </a:ext>
            </a:extLst>
          </p:cNvPr>
          <p:cNvSpPr>
            <a:spLocks noGrp="1"/>
          </p:cNvSpPr>
          <p:nvPr>
            <p:ph idx="1"/>
          </p:nvPr>
        </p:nvSpPr>
        <p:spPr>
          <a:xfrm>
            <a:off x="419450" y="419450"/>
            <a:ext cx="10596421" cy="6157519"/>
          </a:xfrm>
        </p:spPr>
        <p:txBody>
          <a:bodyPr>
            <a:normAutofit fontScale="25000" lnSpcReduction="20000"/>
          </a:bodyPr>
          <a:lstStyle/>
          <a:p>
            <a:pPr marL="45720" indent="0" algn="l" fontAlgn="base">
              <a:buNone/>
            </a:pPr>
            <a:r>
              <a:rPr lang="es-ES" sz="4300" b="1" i="0" u="sng" dirty="0">
                <a:effectLst/>
                <a:latin typeface="Arial" panose="020B0604020202020204" pitchFamily="34" charset="0"/>
                <a:cs typeface="Arial" panose="020B0604020202020204" pitchFamily="34" charset="0"/>
              </a:rPr>
              <a:t>3. Actividad</a:t>
            </a:r>
          </a:p>
          <a:p>
            <a:pPr marL="45720" indent="0" algn="l" fontAlgn="base">
              <a:buNone/>
            </a:pPr>
            <a:br>
              <a:rPr lang="es-ES" b="0" i="0" dirty="0">
                <a:solidFill>
                  <a:srgbClr val="515151"/>
                </a:solidFill>
                <a:effectLst/>
                <a:latin typeface="Lora" pitchFamily="2" charset="0"/>
              </a:rPr>
            </a:br>
            <a:br>
              <a:rPr lang="es-ES" sz="3400" b="0" i="0" dirty="0">
                <a:solidFill>
                  <a:srgbClr val="515151"/>
                </a:solidFill>
                <a:effectLst/>
                <a:latin typeface="Arial" panose="020B0604020202020204" pitchFamily="34" charset="0"/>
                <a:cs typeface="Arial" panose="020B0604020202020204" pitchFamily="34" charset="0"/>
              </a:rPr>
            </a:br>
            <a:r>
              <a:rPr lang="es-ES" sz="3400" b="1" i="0" dirty="0">
                <a:effectLst/>
                <a:latin typeface="Arial" panose="020B0604020202020204" pitchFamily="34" charset="0"/>
                <a:cs typeface="Arial" panose="020B0604020202020204" pitchFamily="34" charset="0"/>
              </a:rPr>
              <a:t>Clasifica en derechos básicos del trabajador derivados de la CE, derechos específicos derivados de la relación laboral de ET y obligaciones del trabajador:</a:t>
            </a:r>
            <a:br>
              <a:rPr lang="es-ES" sz="3400" b="0" i="0" dirty="0">
                <a:effectLst/>
                <a:latin typeface="Arial" panose="020B0604020202020204" pitchFamily="34" charset="0"/>
                <a:cs typeface="Arial" panose="020B0604020202020204" pitchFamily="34" charset="0"/>
              </a:rPr>
            </a:br>
            <a:endParaRPr lang="es-ES" sz="3400" dirty="0">
              <a:latin typeface="Arial" panose="020B0604020202020204" pitchFamily="34" charset="0"/>
              <a:cs typeface="Arial" panose="020B0604020202020204" pitchFamily="34" charset="0"/>
            </a:endParaRPr>
          </a:p>
          <a:p>
            <a:pPr marL="45720" indent="0" algn="l" fontAlgn="base">
              <a:buNone/>
            </a:pPr>
            <a:r>
              <a:rPr lang="es-ES" sz="3700" b="0" i="0" dirty="0">
                <a:effectLst/>
                <a:latin typeface="Arial" panose="020B0604020202020204" pitchFamily="34" charset="0"/>
                <a:cs typeface="Arial" panose="020B0604020202020204" pitchFamily="34" charset="0"/>
              </a:rPr>
              <a:t>1. Libre </a:t>
            </a:r>
            <a:r>
              <a:rPr lang="es-ES" sz="3700" b="0" i="0" dirty="0" err="1">
                <a:effectLst/>
                <a:latin typeface="Arial" panose="020B0604020202020204" pitchFamily="34" charset="0"/>
                <a:cs typeface="Arial" panose="020B0604020202020204" pitchFamily="34" charset="0"/>
              </a:rPr>
              <a:t>sindicación.</a:t>
            </a:r>
            <a:r>
              <a:rPr lang="es-ES" sz="3700" b="0" i="0" dirty="0" err="1">
                <a:solidFill>
                  <a:srgbClr val="FF0000"/>
                </a:solidFill>
                <a:effectLst/>
                <a:latin typeface="Arial" panose="020B0604020202020204" pitchFamily="34" charset="0"/>
                <a:cs typeface="Arial" panose="020B0604020202020204" pitchFamily="34" charset="0"/>
              </a:rPr>
              <a:t>CE</a:t>
            </a:r>
            <a:endParaRPr lang="es-ES" sz="3700" b="0" i="0" dirty="0">
              <a:solidFill>
                <a:srgbClr val="FF0000"/>
              </a:solidFill>
              <a:effectLst/>
              <a:latin typeface="Arial" panose="020B0604020202020204" pitchFamily="34" charset="0"/>
              <a:cs typeface="Arial" panose="020B0604020202020204" pitchFamily="34" charset="0"/>
            </a:endParaRPr>
          </a:p>
          <a:p>
            <a:pPr algn="l" fontAlgn="base">
              <a:buFont typeface="+mj-lt"/>
              <a:buAutoNum type="arabicPeriod"/>
            </a:pPr>
            <a:r>
              <a:rPr lang="es-ES" sz="3700" b="0" i="0" dirty="0">
                <a:effectLst/>
                <a:latin typeface="Arial" panose="020B0604020202020204" pitchFamily="34" charset="0"/>
                <a:cs typeface="Arial" panose="020B0604020202020204" pitchFamily="34" charset="0"/>
              </a:rPr>
              <a:t>Negociación </a:t>
            </a:r>
            <a:r>
              <a:rPr lang="es-ES" sz="3700" b="0" i="0" dirty="0" err="1">
                <a:effectLst/>
                <a:latin typeface="Arial" panose="020B0604020202020204" pitchFamily="34" charset="0"/>
                <a:cs typeface="Arial" panose="020B0604020202020204" pitchFamily="34" charset="0"/>
              </a:rPr>
              <a:t>colectiva.</a:t>
            </a:r>
            <a:r>
              <a:rPr lang="es-ES" sz="3700" b="0" i="0" dirty="0" err="1">
                <a:solidFill>
                  <a:srgbClr val="FF0000"/>
                </a:solidFill>
                <a:effectLst/>
                <a:latin typeface="Arial" panose="020B0604020202020204" pitchFamily="34" charset="0"/>
                <a:cs typeface="Arial" panose="020B0604020202020204" pitchFamily="34" charset="0"/>
              </a:rPr>
              <a:t>CE</a:t>
            </a:r>
            <a:endParaRPr lang="es-ES" sz="3700" b="0" i="0" dirty="0">
              <a:solidFill>
                <a:srgbClr val="FF0000"/>
              </a:solidFill>
              <a:effectLst/>
              <a:latin typeface="Arial" panose="020B0604020202020204" pitchFamily="34" charset="0"/>
              <a:cs typeface="Arial" panose="020B0604020202020204" pitchFamily="34" charset="0"/>
            </a:endParaRPr>
          </a:p>
          <a:p>
            <a:pPr algn="l" fontAlgn="base">
              <a:buFont typeface="+mj-lt"/>
              <a:buAutoNum type="arabicPeriod"/>
            </a:pPr>
            <a:r>
              <a:rPr lang="es-ES" sz="3700" b="0" i="0" dirty="0">
                <a:effectLst/>
                <a:latin typeface="Arial" panose="020B0604020202020204" pitchFamily="34" charset="0"/>
                <a:cs typeface="Arial" panose="020B0604020202020204" pitchFamily="34" charset="0"/>
              </a:rPr>
              <a:t>Ocupación efectiva. </a:t>
            </a:r>
            <a:r>
              <a:rPr lang="es-ES" sz="3700" b="0" i="0" dirty="0">
                <a:solidFill>
                  <a:srgbClr val="FF0000"/>
                </a:solidFill>
                <a:effectLst/>
                <a:latin typeface="Arial" panose="020B0604020202020204" pitchFamily="34" charset="0"/>
                <a:cs typeface="Arial" panose="020B0604020202020204" pitchFamily="34" charset="0"/>
              </a:rPr>
              <a:t>ET</a:t>
            </a:r>
          </a:p>
          <a:p>
            <a:pPr algn="l" fontAlgn="base">
              <a:buFont typeface="+mj-lt"/>
              <a:buAutoNum type="arabicPeriod"/>
            </a:pPr>
            <a:r>
              <a:rPr lang="es-ES" sz="3700" b="0" i="0" dirty="0">
                <a:effectLst/>
                <a:latin typeface="Arial" panose="020B0604020202020204" pitchFamily="34" charset="0"/>
                <a:cs typeface="Arial" panose="020B0604020202020204" pitchFamily="34" charset="0"/>
              </a:rPr>
              <a:t>Ejercicio individual de las acciones derivadas de su contrato de trabajo</a:t>
            </a:r>
            <a:r>
              <a:rPr lang="es-ES" sz="3700" b="0" i="0" dirty="0">
                <a:solidFill>
                  <a:srgbClr val="FF0000"/>
                </a:solidFill>
                <a:effectLst/>
                <a:latin typeface="Arial" panose="020B0604020202020204" pitchFamily="34" charset="0"/>
                <a:cs typeface="Arial" panose="020B0604020202020204" pitchFamily="34" charset="0"/>
              </a:rPr>
              <a:t>.ET</a:t>
            </a:r>
          </a:p>
          <a:p>
            <a:pPr algn="l" fontAlgn="base">
              <a:buFont typeface="+mj-lt"/>
              <a:buAutoNum type="arabicPeriod"/>
            </a:pPr>
            <a:r>
              <a:rPr lang="es-ES" sz="3700" b="0" i="0" dirty="0">
                <a:effectLst/>
                <a:latin typeface="Arial" panose="020B0604020202020204" pitchFamily="34" charset="0"/>
                <a:cs typeface="Arial" panose="020B0604020202020204" pitchFamily="34" charset="0"/>
              </a:rPr>
              <a:t>No ser discriminados directa o indirectamente para el empleo, o una vez empleados, por razones de sexo, estado civil, origen racial o étnico, condición social, religión o convicciones.</a:t>
            </a:r>
            <a:r>
              <a:rPr lang="es-ES" sz="3700" b="0" i="0" dirty="0">
                <a:solidFill>
                  <a:srgbClr val="FF0000"/>
                </a:solidFill>
                <a:effectLst/>
                <a:latin typeface="Arial" panose="020B0604020202020204" pitchFamily="34" charset="0"/>
                <a:cs typeface="Arial" panose="020B0604020202020204" pitchFamily="34" charset="0"/>
              </a:rPr>
              <a:t> ET</a:t>
            </a:r>
          </a:p>
          <a:p>
            <a:pPr algn="l" fontAlgn="base">
              <a:buFont typeface="+mj-lt"/>
              <a:buAutoNum type="arabicPeriod"/>
            </a:pPr>
            <a:r>
              <a:rPr lang="es-ES" sz="3700" b="0" i="0" dirty="0">
                <a:effectLst/>
                <a:latin typeface="Arial" panose="020B0604020202020204" pitchFamily="34" charset="0"/>
                <a:cs typeface="Arial" panose="020B0604020202020204" pitchFamily="34" charset="0"/>
              </a:rPr>
              <a:t>Promoción y formación profesional en el trabajo, </a:t>
            </a:r>
            <a:r>
              <a:rPr lang="es-ES" sz="3700" b="0" i="0" dirty="0">
                <a:solidFill>
                  <a:srgbClr val="FF0000"/>
                </a:solidFill>
                <a:effectLst/>
                <a:latin typeface="Arial" panose="020B0604020202020204" pitchFamily="34" charset="0"/>
                <a:cs typeface="Arial" panose="020B0604020202020204" pitchFamily="34" charset="0"/>
              </a:rPr>
              <a:t>ET </a:t>
            </a:r>
          </a:p>
          <a:p>
            <a:pPr algn="l" fontAlgn="base">
              <a:buFont typeface="+mj-lt"/>
              <a:buAutoNum type="arabicPeriod"/>
            </a:pPr>
            <a:r>
              <a:rPr lang="es-ES" sz="3700" b="0" i="0" dirty="0">
                <a:effectLst/>
                <a:latin typeface="Arial" panose="020B0604020202020204" pitchFamily="34" charset="0"/>
                <a:cs typeface="Arial" panose="020B0604020202020204" pitchFamily="34" charset="0"/>
              </a:rPr>
              <a:t>Adopción de medidas de conflicto colectivo</a:t>
            </a:r>
            <a:r>
              <a:rPr lang="es-ES" sz="3700" b="0" i="0" dirty="0">
                <a:solidFill>
                  <a:srgbClr val="FF0000"/>
                </a:solidFill>
                <a:effectLst/>
                <a:latin typeface="Arial" panose="020B0604020202020204" pitchFamily="34" charset="0"/>
                <a:cs typeface="Arial" panose="020B0604020202020204" pitchFamily="34" charset="0"/>
              </a:rPr>
              <a:t>. CE</a:t>
            </a:r>
            <a:endParaRPr lang="es-ES" sz="3700" b="0" i="0" dirty="0">
              <a:effectLst/>
              <a:latin typeface="Arial" panose="020B0604020202020204" pitchFamily="34" charset="0"/>
              <a:cs typeface="Arial" panose="020B0604020202020204" pitchFamily="34" charset="0"/>
            </a:endParaRPr>
          </a:p>
          <a:p>
            <a:pPr algn="l" fontAlgn="base">
              <a:buFont typeface="+mj-lt"/>
              <a:buAutoNum type="arabicPeriod"/>
            </a:pPr>
            <a:r>
              <a:rPr lang="es-ES" sz="3700" b="0" i="0" dirty="0">
                <a:effectLst/>
                <a:latin typeface="Arial" panose="020B0604020202020204" pitchFamily="34" charset="0"/>
                <a:cs typeface="Arial" panose="020B0604020202020204" pitchFamily="34" charset="0"/>
              </a:rPr>
              <a:t>Huelga. </a:t>
            </a:r>
            <a:r>
              <a:rPr lang="es-ES" sz="3700" b="0" i="0" dirty="0">
                <a:solidFill>
                  <a:srgbClr val="FF0000"/>
                </a:solidFill>
                <a:effectLst/>
                <a:latin typeface="Arial" panose="020B0604020202020204" pitchFamily="34" charset="0"/>
                <a:cs typeface="Arial" panose="020B0604020202020204" pitchFamily="34" charset="0"/>
              </a:rPr>
              <a:t>CE</a:t>
            </a:r>
          </a:p>
          <a:p>
            <a:pPr algn="l" fontAlgn="base">
              <a:buFont typeface="+mj-lt"/>
              <a:buAutoNum type="arabicPeriod"/>
            </a:pPr>
            <a:r>
              <a:rPr lang="es-ES" sz="3700" b="0" i="0" dirty="0">
                <a:effectLst/>
                <a:latin typeface="Arial" panose="020B0604020202020204" pitchFamily="34" charset="0"/>
                <a:cs typeface="Arial" panose="020B0604020202020204" pitchFamily="34" charset="0"/>
              </a:rPr>
              <a:t>Información, consulta y participación en la empresa. </a:t>
            </a:r>
            <a:r>
              <a:rPr lang="es-ES" sz="3700" b="0" i="0" dirty="0">
                <a:solidFill>
                  <a:srgbClr val="FF0000"/>
                </a:solidFill>
                <a:effectLst/>
                <a:latin typeface="Arial" panose="020B0604020202020204" pitchFamily="34" charset="0"/>
                <a:cs typeface="Arial" panose="020B0604020202020204" pitchFamily="34" charset="0"/>
              </a:rPr>
              <a:t>CE</a:t>
            </a:r>
          </a:p>
          <a:p>
            <a:pPr algn="l" fontAlgn="base">
              <a:buFont typeface="+mj-lt"/>
              <a:buAutoNum type="arabicPeriod"/>
            </a:pPr>
            <a:r>
              <a:rPr lang="es-ES" sz="3700" b="0" i="0" dirty="0">
                <a:effectLst/>
                <a:latin typeface="Arial" panose="020B0604020202020204" pitchFamily="34" charset="0"/>
                <a:cs typeface="Arial" panose="020B0604020202020204" pitchFamily="34" charset="0"/>
              </a:rPr>
              <a:t>Respeto de su intimidad. </a:t>
            </a:r>
            <a:r>
              <a:rPr lang="es-ES" sz="3700" b="0" i="0" dirty="0">
                <a:solidFill>
                  <a:srgbClr val="FF0000"/>
                </a:solidFill>
                <a:effectLst/>
                <a:latin typeface="Arial" panose="020B0604020202020204" pitchFamily="34" charset="0"/>
                <a:cs typeface="Arial" panose="020B0604020202020204" pitchFamily="34" charset="0"/>
              </a:rPr>
              <a:t>ET</a:t>
            </a:r>
          </a:p>
          <a:p>
            <a:pPr algn="l" fontAlgn="base">
              <a:buFont typeface="+mj-lt"/>
              <a:buAutoNum type="arabicPeriod"/>
            </a:pPr>
            <a:r>
              <a:rPr lang="es-ES" sz="3700" b="0" i="0" dirty="0">
                <a:effectLst/>
                <a:latin typeface="Arial" panose="020B0604020202020204" pitchFamily="34" charset="0"/>
                <a:cs typeface="Arial" panose="020B0604020202020204" pitchFamily="34" charset="0"/>
              </a:rPr>
              <a:t>Observar las medidas de seguridad e higiene que se adopten. </a:t>
            </a:r>
            <a:r>
              <a:rPr lang="es-ES" sz="3700" b="0" i="0" dirty="0">
                <a:solidFill>
                  <a:srgbClr val="FF0000"/>
                </a:solidFill>
                <a:effectLst/>
                <a:latin typeface="Arial" panose="020B0604020202020204" pitchFamily="34" charset="0"/>
                <a:cs typeface="Arial" panose="020B0604020202020204" pitchFamily="34" charset="0"/>
              </a:rPr>
              <a:t>OBLIGACION DEL TRABAJADOR</a:t>
            </a:r>
          </a:p>
          <a:p>
            <a:pPr algn="l" fontAlgn="base">
              <a:buFont typeface="+mj-lt"/>
              <a:buAutoNum type="arabicPeriod"/>
            </a:pPr>
            <a:r>
              <a:rPr lang="es-ES" sz="3700" b="0" i="0" dirty="0">
                <a:effectLst/>
                <a:latin typeface="Arial" panose="020B0604020202020204" pitchFamily="34" charset="0"/>
                <a:cs typeface="Arial" panose="020B0604020202020204" pitchFamily="34" charset="0"/>
              </a:rPr>
              <a:t>Reunión</a:t>
            </a:r>
            <a:r>
              <a:rPr lang="es-ES" sz="3700" b="0" i="0" dirty="0">
                <a:solidFill>
                  <a:srgbClr val="FF0000"/>
                </a:solidFill>
                <a:effectLst/>
                <a:latin typeface="Arial" panose="020B0604020202020204" pitchFamily="34" charset="0"/>
                <a:cs typeface="Arial" panose="020B0604020202020204" pitchFamily="34" charset="0"/>
              </a:rPr>
              <a:t>. CE</a:t>
            </a:r>
          </a:p>
          <a:p>
            <a:pPr algn="l" fontAlgn="base">
              <a:buFont typeface="+mj-lt"/>
              <a:buAutoNum type="arabicPeriod"/>
            </a:pPr>
            <a:r>
              <a:rPr lang="es-ES" sz="3700" b="0" i="0" dirty="0">
                <a:effectLst/>
                <a:latin typeface="Arial" panose="020B0604020202020204" pitchFamily="34" charset="0"/>
                <a:cs typeface="Arial" panose="020B0604020202020204" pitchFamily="34" charset="0"/>
              </a:rPr>
              <a:t>La percepción puntual de la remuneración pactada o legalmente establecida</a:t>
            </a:r>
            <a:r>
              <a:rPr lang="es-ES" sz="3700" b="0" i="0" dirty="0">
                <a:solidFill>
                  <a:srgbClr val="FF0000"/>
                </a:solidFill>
                <a:effectLst/>
                <a:latin typeface="Arial" panose="020B0604020202020204" pitchFamily="34" charset="0"/>
                <a:cs typeface="Arial" panose="020B0604020202020204" pitchFamily="34" charset="0"/>
              </a:rPr>
              <a:t>. ET</a:t>
            </a:r>
          </a:p>
          <a:p>
            <a:pPr algn="l" fontAlgn="base">
              <a:buFont typeface="+mj-lt"/>
              <a:buAutoNum type="arabicPeriod"/>
            </a:pPr>
            <a:r>
              <a:rPr lang="es-ES" sz="3700" b="0" i="0" dirty="0">
                <a:effectLst/>
                <a:latin typeface="Arial" panose="020B0604020202020204" pitchFamily="34" charset="0"/>
                <a:cs typeface="Arial" panose="020B0604020202020204" pitchFamily="34" charset="0"/>
              </a:rPr>
              <a:t>Trabajo y libre elección de profesión</a:t>
            </a:r>
            <a:r>
              <a:rPr lang="es-ES" sz="3700" b="0" i="0" dirty="0">
                <a:solidFill>
                  <a:srgbClr val="FF0000"/>
                </a:solidFill>
                <a:effectLst/>
                <a:latin typeface="Arial" panose="020B0604020202020204" pitchFamily="34" charset="0"/>
                <a:cs typeface="Arial" panose="020B0604020202020204" pitchFamily="34" charset="0"/>
              </a:rPr>
              <a:t>. CE</a:t>
            </a:r>
          </a:p>
          <a:p>
            <a:pPr algn="l" fontAlgn="base">
              <a:buFont typeface="+mj-lt"/>
              <a:buAutoNum type="arabicPeriod"/>
            </a:pPr>
            <a:r>
              <a:rPr lang="es-ES" sz="3700" b="0" i="0" dirty="0">
                <a:effectLst/>
                <a:latin typeface="Arial" panose="020B0604020202020204" pitchFamily="34" charset="0"/>
                <a:cs typeface="Arial" panose="020B0604020202020204" pitchFamily="34" charset="0"/>
              </a:rPr>
              <a:t>Cumplir las órdenes e instrucciones del empresario en el ejercicio regular de sus facultades directivas. </a:t>
            </a:r>
            <a:r>
              <a:rPr lang="es-ES" sz="3700" b="0" i="0" dirty="0">
                <a:solidFill>
                  <a:srgbClr val="FF0000"/>
                </a:solidFill>
                <a:effectLst/>
                <a:latin typeface="Arial" panose="020B0604020202020204" pitchFamily="34" charset="0"/>
                <a:cs typeface="Arial" panose="020B0604020202020204" pitchFamily="34" charset="0"/>
              </a:rPr>
              <a:t>OBLIGACION DEL TRABAJADOR</a:t>
            </a:r>
          </a:p>
          <a:p>
            <a:pPr fontAlgn="base">
              <a:buFont typeface="+mj-lt"/>
              <a:buAutoNum type="arabicPeriod"/>
            </a:pPr>
            <a:r>
              <a:rPr lang="es-ES" sz="3700" b="0" i="0" dirty="0">
                <a:effectLst/>
                <a:latin typeface="Arial" panose="020B0604020202020204" pitchFamily="34" charset="0"/>
                <a:cs typeface="Arial" panose="020B0604020202020204" pitchFamily="34" charset="0"/>
              </a:rPr>
              <a:t>No concurrir con la actividad de la empresa, en los términos fijados en esta Ley. </a:t>
            </a:r>
            <a:r>
              <a:rPr lang="es-ES" sz="3700" b="0" i="0" dirty="0">
                <a:solidFill>
                  <a:srgbClr val="FF0000"/>
                </a:solidFill>
                <a:effectLst/>
                <a:latin typeface="Arial" panose="020B0604020202020204" pitchFamily="34" charset="0"/>
                <a:cs typeface="Arial" panose="020B0604020202020204" pitchFamily="34" charset="0"/>
              </a:rPr>
              <a:t>OBLIGACION DEL TRABAJADOR</a:t>
            </a:r>
          </a:p>
          <a:p>
            <a:pPr fontAlgn="base">
              <a:buFont typeface="+mj-lt"/>
              <a:buAutoNum type="arabicPeriod"/>
            </a:pPr>
            <a:r>
              <a:rPr lang="es-ES" sz="3700" b="0" i="0" dirty="0">
                <a:effectLst/>
                <a:latin typeface="Arial" panose="020B0604020202020204" pitchFamily="34" charset="0"/>
                <a:cs typeface="Arial" panose="020B0604020202020204" pitchFamily="34" charset="0"/>
              </a:rPr>
              <a:t>Contribuir a la mejora de la productividad. </a:t>
            </a:r>
            <a:r>
              <a:rPr lang="es-ES" sz="3700" b="0" i="0" dirty="0">
                <a:solidFill>
                  <a:srgbClr val="FF0000"/>
                </a:solidFill>
                <a:effectLst/>
                <a:latin typeface="Arial" panose="020B0604020202020204" pitchFamily="34" charset="0"/>
                <a:cs typeface="Arial" panose="020B0604020202020204" pitchFamily="34" charset="0"/>
              </a:rPr>
              <a:t>OBLIGACION DEL TRABAJADOR</a:t>
            </a:r>
          </a:p>
          <a:p>
            <a:pPr algn="l" fontAlgn="base">
              <a:buFont typeface="+mj-lt"/>
              <a:buAutoNum type="arabicPeriod"/>
            </a:pPr>
            <a:endParaRPr lang="es-ES" sz="3700" b="0" i="0" dirty="0">
              <a:effectLst/>
              <a:latin typeface="Arial" panose="020B0604020202020204" pitchFamily="34" charset="0"/>
              <a:cs typeface="Arial" panose="020B0604020202020204" pitchFamily="34" charset="0"/>
            </a:endParaRPr>
          </a:p>
          <a:p>
            <a:endParaRPr lang="es-ES" dirty="0"/>
          </a:p>
        </p:txBody>
      </p:sp>
    </p:spTree>
    <p:extLst>
      <p:ext uri="{BB962C8B-B14F-4D97-AF65-F5344CB8AC3E}">
        <p14:creationId xmlns:p14="http://schemas.microsoft.com/office/powerpoint/2010/main" val="492028661"/>
      </p:ext>
    </p:extLst>
  </p:cSld>
  <p:clrMapOvr>
    <a:masterClrMapping/>
  </p:clrMapOvr>
</p:sld>
</file>

<file path=ppt/theme/theme1.xml><?xml version="1.0" encoding="utf-8"?>
<a:theme xmlns:a="http://schemas.openxmlformats.org/drawingml/2006/main" name="Base">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Basis">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ACC63D00-1EE0-4159-BF5A-6FF02000B710}"/>
    </a:ext>
  </a:extLst>
</a:theme>
</file>

<file path=docProps/app.xml><?xml version="1.0" encoding="utf-8"?>
<Properties xmlns="http://schemas.openxmlformats.org/officeDocument/2006/extended-properties" xmlns:vt="http://schemas.openxmlformats.org/officeDocument/2006/docPropsVTypes">
  <Template>TM03457444[[fn=Base]]</Template>
  <TotalTime>411</TotalTime>
  <Words>1574</Words>
  <Application>Microsoft Office PowerPoint</Application>
  <PresentationFormat>Panorámica</PresentationFormat>
  <Paragraphs>53</Paragraphs>
  <Slides>25</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25</vt:i4>
      </vt:variant>
    </vt:vector>
  </HeadingPairs>
  <TitlesOfParts>
    <vt:vector size="31" baseType="lpstr">
      <vt:lpstr>Arial</vt:lpstr>
      <vt:lpstr>Arial Black</vt:lpstr>
      <vt:lpstr>Corbel</vt:lpstr>
      <vt:lpstr>inherit</vt:lpstr>
      <vt:lpstr>Lora</vt:lpstr>
      <vt:lpstr>Base</vt:lpstr>
      <vt:lpstr>Tema 2.  la relación laboral</vt:lpstr>
      <vt:lpstr>1. La relación laboral 2.Derechos y deberes. 3. La jornada de trabajo 4. Descanso festivo y vacaciones. 5. permisos </vt:lpstr>
      <vt:lpstr> 1.LA RELACION LABORAL  La norma básica del derecho laboral es el Estatuto de los trabajadores, que regula las condiciones laborales de los trabajadores y que define la relación laboral ordinaria. </vt:lpstr>
      <vt:lpstr>Presentación de PowerPoint</vt:lpstr>
      <vt:lpstr>Presentación de PowerPoint</vt:lpstr>
      <vt:lpstr>Presentación de PowerPoint</vt:lpstr>
      <vt:lpstr>Presentación de PowerPoint</vt:lpstr>
      <vt:lpstr>Presentación de PowerPoint</vt:lpstr>
      <vt:lpstr>Presentación de PowerPoint</vt:lpstr>
      <vt:lpstr>2. DERECHOS Y DEBERES  Fuentes del Derecho</vt:lpstr>
      <vt:lpstr>Presentación de PowerPoint</vt:lpstr>
      <vt:lpstr>Presentación de PowerPoint</vt:lpstr>
      <vt:lpstr>Presentación de PowerPoint</vt:lpstr>
      <vt:lpstr>Presentación de PowerPoint</vt:lpstr>
      <vt:lpstr>Presentación de PowerPoint</vt:lpstr>
      <vt:lpstr>3. LA JORNADA DE TRABAJO  </vt:lpstr>
      <vt:lpstr>4.DESCANSO, FESTIVOS Y VACACIONES</vt:lpstr>
      <vt:lpstr>5. PERMISOS</vt:lpstr>
      <vt:lpstr>Presentación de PowerPoint</vt:lpstr>
      <vt:lpstr>ACTIVIDAD  1. Indica si las supuestas relaciones siguientes estarán reguladas por el Estatuto de los trabajadores (es decir si constituyen relaciones laborales ordinarias)  1. Rocío que ha estudiado un ciclo de grado medio de comercio va a ayudar a su amigo Pepe a organizar las estanterías de su tienda 2. Javier que ha terminado auxiliar administrativo es contratado por su padre en la empresa 3. Carlos que estudia auxiliar de clínica va dos tardes por semana a realizar actividades con niños en los hospitales como voluntario de cruz roja 4. María que también estudia auxiliar de clínica trabaja todas las tardes en la residencia de ancianos de su tía con un contrato a tiempo parcial 5. Eduardo es un transportista profesional propietario de su propio vehículo 6. Juan es policía nacional 7. Lorena, estudiante de comercio quiere trabajar por las tardes y consigue un puesto de camarera al ser seleccionada por McDonald’s 8. Nacho es jugador de golf profesional  2. ACTIVIDAD   1.- EL TRABAJO REGULADO POR EL DERECHO LABORAL ES: A. Personal B. Voluntario C. Por cuenta propia D. a) y b) son correctas  2.-SEÑALA CUAL DE LAS SIGUIENTES CARACTERÍSTICAS NO ES PROPIA DEL TRABAJO REGULADO POR EL DERECHO LABORAL: A. Por cuenta ajena B. Remunerado C. Voluntario D. Por cuenta propia.  3.- LA CARACTERÍSTICA POR LA CUAL LOS RESULTADOS QUE OBTIENE EL TRABAJADOR SON PARA EL EMPRESARIO TRABAJO SE RELACIONA CON LA CARACTERÍSTICA  A.Trabajo obligatorio B.Trabajo dependiente C.Trabajo retribuido D.Trabajo por cuenta ajena  </vt:lpstr>
      <vt:lpstr>Presentación de PowerPoint</vt:lpstr>
      <vt:lpstr>Presentación de PowerPoint</vt:lpstr>
      <vt:lpstr>SOLUCION:</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Tema 2.  la relación laboral</dc:title>
  <dc:creator>ABDOU</dc:creator>
  <cp:lastModifiedBy>Remedios Martinez</cp:lastModifiedBy>
  <cp:revision>9</cp:revision>
  <dcterms:created xsi:type="dcterms:W3CDTF">2021-10-12T16:46:30Z</dcterms:created>
  <dcterms:modified xsi:type="dcterms:W3CDTF">2021-10-19T10:00:18Z</dcterms:modified>
</cp:coreProperties>
</file>